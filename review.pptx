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74" r:id="rId6"/>
    <p:sldId id="279" r:id="rId7"/>
    <p:sldId id="281" r:id="rId8"/>
    <p:sldId id="283" r:id="rId9"/>
    <p:sldId id="289" r:id="rId10"/>
    <p:sldId id="282" r:id="rId11"/>
    <p:sldId id="284" r:id="rId12"/>
    <p:sldId id="278" r:id="rId13"/>
    <p:sldId id="285" r:id="rId14"/>
    <p:sldId id="290" r:id="rId15"/>
    <p:sldId id="286" r:id="rId16"/>
    <p:sldId id="276" r:id="rId17"/>
    <p:sldId id="287" r:id="rId18"/>
    <p:sldId id="271" r:id="rId19"/>
    <p:sldId id="268" r:id="rId20"/>
    <p:sldId id="269" r:id="rId21"/>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74" d="100"/>
          <a:sy n="74" d="100"/>
        </p:scale>
        <p:origin x="1795"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23-03-2026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18</a:t>
            </a:fld>
            <a:endParaRPr lang="en-IN"/>
          </a:p>
        </p:txBody>
      </p:sp>
    </p:spTree>
    <p:extLst>
      <p:ext uri="{BB962C8B-B14F-4D97-AF65-F5344CB8AC3E}">
        <p14:creationId xmlns:p14="http://schemas.microsoft.com/office/powerpoint/2010/main" val="2006106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3/23/2026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6.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520416"/>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Mining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AIML - 1</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5002652"/>
          </a:xfrm>
          <a:prstGeom prst="rect">
            <a:avLst/>
          </a:prstGeom>
        </p:spPr>
        <p:txBody>
          <a:bodyPr vert="horz" wrap="square" lIns="0" tIns="16510" rIns="0" bIns="0" rtlCol="0">
            <a:spAutoFit/>
          </a:bodyPr>
          <a:lstStyle/>
          <a:p>
            <a:pPr algn="ctr">
              <a:lnSpc>
                <a:spcPct val="100000"/>
              </a:lnSpc>
              <a:spcBef>
                <a:spcPts val="130"/>
              </a:spcBef>
            </a:pPr>
            <a:endParaRPr lang="en-US" sz="2200" dirty="0">
              <a:latin typeface="Times New Roman" panose="02020603050405020304" pitchFamily="18" charset="0"/>
              <a:cs typeface="Times New Roman" panose="02020603050405020304" pitchFamily="18" charset="0"/>
            </a:endParaRPr>
          </a:p>
          <a:p>
            <a:pPr algn="ctr">
              <a:lnSpc>
                <a:spcPct val="100000"/>
              </a:lnSpc>
              <a:spcBef>
                <a:spcPts val="130"/>
              </a:spcBef>
            </a:pPr>
            <a:r>
              <a:rPr lang="en-US" sz="2200" dirty="0">
                <a:latin typeface="Times New Roman" panose="02020603050405020304" pitchFamily="18" charset="0"/>
                <a:cs typeface="Times New Roman" panose="02020603050405020304" pitchFamily="18" charset="0"/>
              </a:rPr>
              <a:t>Student Insight Using WEKA</a:t>
            </a:r>
            <a:endParaRPr lang="en-IN" sz="2200"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2200" spc="-25" dirty="0">
              <a:solidFill>
                <a:srgbClr val="FF0000"/>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IN" sz="2200" spc="-10" dirty="0">
                <a:latin typeface="Times New Roman" panose="02020603050405020304" pitchFamily="18" charset="0"/>
                <a:cs typeface="Times New Roman" panose="02020603050405020304" pitchFamily="18" charset="0"/>
              </a:rPr>
              <a:t>R V S V KARTHIK (24B11AI373)</a:t>
            </a:r>
          </a:p>
          <a:p>
            <a:pPr marL="3810" algn="ctr">
              <a:lnSpc>
                <a:spcPct val="100000"/>
              </a:lnSpc>
              <a:spcBef>
                <a:spcPts val="750"/>
              </a:spcBef>
            </a:pPr>
            <a:r>
              <a:rPr lang="en-IN" sz="2200" spc="-10" dirty="0">
                <a:latin typeface="Times New Roman" panose="02020603050405020304" pitchFamily="18" charset="0"/>
                <a:cs typeface="Times New Roman" panose="02020603050405020304" pitchFamily="18" charset="0"/>
              </a:rPr>
              <a:t>K NARAYANA SWAMY (24B11AI196)</a:t>
            </a:r>
          </a:p>
          <a:p>
            <a:pPr marL="3810" algn="ctr">
              <a:lnSpc>
                <a:spcPct val="100000"/>
              </a:lnSpc>
              <a:spcBef>
                <a:spcPts val="750"/>
              </a:spcBef>
            </a:pPr>
            <a:r>
              <a:rPr lang="en-IN" sz="2200" spc="-10" dirty="0">
                <a:latin typeface="Times New Roman" panose="02020603050405020304" pitchFamily="18" charset="0"/>
                <a:cs typeface="Times New Roman" panose="02020603050405020304" pitchFamily="18" charset="0"/>
              </a:rPr>
              <a:t>M DILEEP (24B11AI233)</a:t>
            </a:r>
          </a:p>
          <a:p>
            <a:pPr marL="3810" algn="ctr">
              <a:lnSpc>
                <a:spcPct val="100000"/>
              </a:lnSpc>
              <a:spcBef>
                <a:spcPts val="750"/>
              </a:spcBef>
            </a:pPr>
            <a:r>
              <a:rPr lang="en-IN" sz="2200" spc="-10" dirty="0" err="1">
                <a:latin typeface="Times New Roman" panose="02020603050405020304" pitchFamily="18" charset="0"/>
                <a:cs typeface="Times New Roman" panose="02020603050405020304" pitchFamily="18" charset="0"/>
              </a:rPr>
              <a:t>Sk</a:t>
            </a:r>
            <a:r>
              <a:rPr lang="en-IN" sz="2200" spc="-10" dirty="0">
                <a:latin typeface="Times New Roman" panose="02020603050405020304" pitchFamily="18" charset="0"/>
                <a:cs typeface="Times New Roman" panose="02020603050405020304" pitchFamily="18" charset="0"/>
              </a:rPr>
              <a:t> ELIYAS AHAMED (24B11AI393)</a:t>
            </a: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AIML</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r>
              <a:rPr lang="en-IN" sz="2200" spc="-10" dirty="0">
                <a:solidFill>
                  <a:srgbClr val="943735"/>
                </a:solidFill>
                <a:latin typeface="Times New Roman" panose="02020603050405020304" pitchFamily="18" charset="0"/>
                <a:cs typeface="Times New Roman" panose="02020603050405020304" pitchFamily="18" charset="0"/>
              </a:rPr>
              <a:t>			          			 </a:t>
            </a:r>
            <a:r>
              <a:rPr lang="en-US" dirty="0"/>
              <a:t>Guidance by </a:t>
            </a:r>
          </a:p>
          <a:p>
            <a:pPr marL="1270" algn="ctr">
              <a:lnSpc>
                <a:spcPct val="100000"/>
              </a:lnSpc>
              <a:spcBef>
                <a:spcPts val="994"/>
              </a:spcBef>
            </a:pPr>
            <a:r>
              <a:rPr lang="en-US" dirty="0"/>
              <a:t>						</a:t>
            </a:r>
            <a:r>
              <a:rPr lang="en-US" dirty="0" err="1"/>
              <a:t>Ms.M.Pravallika</a:t>
            </a:r>
            <a:r>
              <a:rPr lang="en-US" b="0" dirty="0"/>
              <a:t>​</a:t>
            </a:r>
            <a:endParaRPr lang="en-IN" sz="220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4151980" cy="4002378"/>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200" spc="-10" dirty="0">
                <a:latin typeface="Times New Roman" panose="02020603050405020304" pitchFamily="18" charset="0"/>
                <a:cs typeface="Times New Roman" panose="02020603050405020304" pitchFamily="18" charset="0"/>
              </a:rPr>
              <a:t>Abstract</a:t>
            </a:r>
            <a:endParaRPr lang="en-IN" sz="22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2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200" dirty="0">
                <a:latin typeface="Times New Roman" panose="02020603050405020304" pitchFamily="18" charset="0"/>
                <a:cs typeface="Times New Roman" panose="02020603050405020304" pitchFamily="18" charset="0"/>
              </a:rPr>
              <a:t>Data Preprocessing</a:t>
            </a:r>
          </a:p>
          <a:p>
            <a:pPr marL="389890" indent="-377190">
              <a:spcBef>
                <a:spcPts val="2060"/>
              </a:spcBef>
              <a:buFontTx/>
              <a:buAutoNum type="arabicPeriod"/>
              <a:tabLst>
                <a:tab pos="389890" algn="l"/>
              </a:tabLst>
            </a:pPr>
            <a:r>
              <a:rPr lang="en-IN" sz="2200" spc="50" dirty="0">
                <a:latin typeface="Times New Roman" panose="02020603050405020304" pitchFamily="18" charset="0"/>
                <a:cs typeface="Times New Roman" panose="02020603050405020304" pitchFamily="18" charset="0"/>
              </a:rPr>
              <a:t>Methodology</a:t>
            </a:r>
          </a:p>
          <a:p>
            <a:pPr marL="389890" indent="-377190">
              <a:spcBef>
                <a:spcPts val="2060"/>
              </a:spcBef>
              <a:buFontTx/>
              <a:buAutoNum type="arabicPeriod"/>
              <a:tabLst>
                <a:tab pos="389890" algn="l"/>
              </a:tabLst>
            </a:pPr>
            <a:r>
              <a:rPr lang="en-IN" sz="2200" dirty="0">
                <a:latin typeface="Times New Roman" panose="02020603050405020304" pitchFamily="18" charset="0"/>
                <a:cs typeface="Times New Roman" panose="02020603050405020304" pitchFamily="18" charset="0"/>
              </a:rPr>
              <a:t>Associations</a:t>
            </a:r>
          </a:p>
          <a:p>
            <a:pPr marL="389890" indent="-377190">
              <a:lnSpc>
                <a:spcPct val="100000"/>
              </a:lnSpc>
              <a:spcBef>
                <a:spcPts val="2060"/>
              </a:spcBef>
              <a:buAutoNum type="arabicPeriod"/>
              <a:tabLst>
                <a:tab pos="389890" algn="l"/>
              </a:tabLst>
            </a:pPr>
            <a:r>
              <a:rPr lang="en-IN" sz="2200" dirty="0">
                <a:latin typeface="Times New Roman" panose="02020603050405020304" pitchFamily="18" charset="0"/>
                <a:cs typeface="Times New Roman" panose="02020603050405020304" pitchFamily="18" charset="0"/>
              </a:rPr>
              <a:t>Comparative Analysis</a:t>
            </a:r>
          </a:p>
          <a:p>
            <a:pPr marL="389890" indent="-377190">
              <a:lnSpc>
                <a:spcPct val="100000"/>
              </a:lnSpc>
              <a:spcBef>
                <a:spcPts val="2060"/>
              </a:spcBef>
              <a:buAutoNum type="arabicPeriod"/>
              <a:tabLst>
                <a:tab pos="389890" algn="l"/>
              </a:tabLst>
            </a:pPr>
            <a:r>
              <a:rPr lang="en-IN" sz="22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723900" y="1185265"/>
            <a:ext cx="8801100" cy="5847755"/>
          </a:xfrm>
          <a:prstGeom prst="rect">
            <a:avLst/>
          </a:prstGeom>
          <a:noFill/>
        </p:spPr>
        <p:txBody>
          <a:bodyPr wrap="square" rtlCol="0">
            <a:spAutoFit/>
          </a:bodyPr>
          <a:lstStyle/>
          <a:p>
            <a:pPr algn="just"/>
            <a:r>
              <a:rPr lang="en-US" sz="2200" dirty="0">
                <a:latin typeface="Times New Roman" panose="02020603050405020304" pitchFamily="18" charset="0"/>
                <a:cs typeface="Times New Roman" panose="02020603050405020304" pitchFamily="18" charset="0"/>
              </a:rPr>
              <a:t>This project analyzes a </a:t>
            </a:r>
            <a:r>
              <a:rPr lang="en-US" sz="2200" b="1" dirty="0">
                <a:latin typeface="Times New Roman" panose="02020603050405020304" pitchFamily="18" charset="0"/>
                <a:cs typeface="Times New Roman" panose="02020603050405020304" pitchFamily="18" charset="0"/>
              </a:rPr>
              <a:t>Student Dropout Dataset</a:t>
            </a:r>
            <a:r>
              <a:rPr lang="en-US" sz="2200" dirty="0">
                <a:latin typeface="Times New Roman" panose="02020603050405020304" pitchFamily="18" charset="0"/>
                <a:cs typeface="Times New Roman" panose="02020603050405020304" pitchFamily="18" charset="0"/>
              </a:rPr>
              <a:t> using the WEKA data mining tool to identify factors affecting student outcomes such as </a:t>
            </a:r>
            <a:r>
              <a:rPr lang="en-US" sz="2200" b="1" dirty="0">
                <a:latin typeface="Times New Roman" panose="02020603050405020304" pitchFamily="18" charset="0"/>
                <a:cs typeface="Times New Roman" panose="02020603050405020304" pitchFamily="18" charset="0"/>
              </a:rPr>
              <a:t>Dropout, Graduate, and Enrolled</a:t>
            </a:r>
            <a:r>
              <a:rPr lang="en-US" sz="2200" dirty="0">
                <a:latin typeface="Times New Roman" panose="02020603050405020304" pitchFamily="18" charset="0"/>
                <a:cs typeface="Times New Roman" panose="02020603050405020304" pitchFamily="18" charset="0"/>
              </a:rPr>
              <a:t>.</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The dataset contains </a:t>
            </a:r>
            <a:r>
              <a:rPr lang="en-US" sz="2200" b="1" dirty="0">
                <a:latin typeface="Times New Roman" panose="02020603050405020304" pitchFamily="18" charset="0"/>
                <a:cs typeface="Times New Roman" panose="02020603050405020304" pitchFamily="18" charset="0"/>
              </a:rPr>
              <a:t>3967 student records with 35 attributes</a:t>
            </a:r>
            <a:r>
              <a:rPr lang="en-US" sz="2200" dirty="0">
                <a:latin typeface="Times New Roman" panose="02020603050405020304" pitchFamily="18" charset="0"/>
                <a:cs typeface="Times New Roman" panose="02020603050405020304" pitchFamily="18" charset="0"/>
              </a:rPr>
              <a:t>, including demographic information, academic performance, and financial status.</a:t>
            </a:r>
          </a:p>
          <a:p>
            <a:pPr algn="just"/>
            <a:r>
              <a:rPr lang="en-US" sz="2200" dirty="0">
                <a:latin typeface="Times New Roman" panose="02020603050405020304" pitchFamily="18" charset="0"/>
                <a:cs typeface="Times New Roman" panose="02020603050405020304" pitchFamily="18" charset="0"/>
              </a:rPr>
              <a:t>Several data mining techniques were applied:</a:t>
            </a:r>
          </a:p>
          <a:p>
            <a:pPr algn="just"/>
            <a:endParaRPr lang="en-US" sz="2200" dirty="0">
              <a:latin typeface="Times New Roman" panose="02020603050405020304" pitchFamily="18" charset="0"/>
              <a:cs typeface="Times New Roman" panose="02020603050405020304" pitchFamily="18" charset="0"/>
            </a:endParaRPr>
          </a:p>
          <a:p>
            <a:pPr algn="just"/>
            <a:r>
              <a:rPr lang="en-US" sz="2200" b="1" dirty="0">
                <a:latin typeface="Times New Roman" panose="02020603050405020304" pitchFamily="18" charset="0"/>
                <a:cs typeface="Times New Roman" panose="02020603050405020304" pitchFamily="18" charset="0"/>
              </a:rPr>
              <a:t>- J48 Decision Tree</a:t>
            </a:r>
          </a:p>
          <a:p>
            <a:pPr algn="just"/>
            <a:r>
              <a:rPr lang="en-US" sz="2200" b="1" dirty="0">
                <a:latin typeface="Times New Roman" panose="02020603050405020304" pitchFamily="18" charset="0"/>
                <a:cs typeface="Times New Roman" panose="02020603050405020304" pitchFamily="18" charset="0"/>
              </a:rPr>
              <a:t>- Random Forest</a:t>
            </a:r>
          </a:p>
          <a:p>
            <a:pPr algn="just"/>
            <a:r>
              <a:rPr lang="en-US" sz="2200" b="1" dirty="0">
                <a:latin typeface="Times New Roman" panose="02020603050405020304" pitchFamily="18" charset="0"/>
                <a:cs typeface="Times New Roman" panose="02020603050405020304" pitchFamily="18" charset="0"/>
              </a:rPr>
              <a:t>- Simple K-Means Clustering</a:t>
            </a:r>
          </a:p>
          <a:p>
            <a:pPr algn="just"/>
            <a:r>
              <a:rPr lang="en-US" sz="2200" b="1" dirty="0">
                <a:latin typeface="Times New Roman" panose="02020603050405020304" pitchFamily="18" charset="0"/>
                <a:cs typeface="Times New Roman" panose="02020603050405020304" pitchFamily="18" charset="0"/>
              </a:rPr>
              <a:t>- Hierarchical Clustering</a:t>
            </a:r>
          </a:p>
          <a:p>
            <a:pPr algn="just"/>
            <a:r>
              <a:rPr lang="en-US" sz="2200" b="1" dirty="0">
                <a:latin typeface="Times New Roman" panose="02020603050405020304" pitchFamily="18" charset="0"/>
                <a:cs typeface="Times New Roman" panose="02020603050405020304" pitchFamily="18" charset="0"/>
              </a:rPr>
              <a:t>- Apriori Association Rules</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Results show that </a:t>
            </a:r>
            <a:r>
              <a:rPr lang="en-US" sz="2200" b="1" dirty="0">
                <a:latin typeface="Times New Roman" panose="02020603050405020304" pitchFamily="18" charset="0"/>
                <a:cs typeface="Times New Roman" panose="02020603050405020304" pitchFamily="18" charset="0"/>
              </a:rPr>
              <a:t>Random Forest achieved the highest accuracy (~74.6%)</a:t>
            </a:r>
            <a:r>
              <a:rPr lang="en-US" sz="2200" dirty="0">
                <a:latin typeface="Times New Roman" panose="02020603050405020304" pitchFamily="18" charset="0"/>
                <a:cs typeface="Times New Roman" panose="02020603050405020304" pitchFamily="18" charset="0"/>
              </a:rPr>
              <a:t>, while </a:t>
            </a:r>
            <a:r>
              <a:rPr lang="en-US" sz="2200" b="1" dirty="0">
                <a:latin typeface="Times New Roman" panose="02020603050405020304" pitchFamily="18" charset="0"/>
                <a:cs typeface="Times New Roman" panose="02020603050405020304" pitchFamily="18" charset="0"/>
              </a:rPr>
              <a:t>J48 produced interpretable rules explaining student performance patterns</a:t>
            </a:r>
            <a:r>
              <a:rPr lang="en-US" sz="2200" dirty="0">
                <a:latin typeface="Times New Roman" panose="02020603050405020304" pitchFamily="18" charset="0"/>
                <a:cs typeface="Times New Roman" panose="020206030504050203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3" name="Rectangle 1">
            <a:extLst>
              <a:ext uri="{FF2B5EF4-FFF2-40B4-BE49-F238E27FC236}">
                <a16:creationId xmlns:a16="http://schemas.microsoft.com/office/drawing/2014/main" id="{3DC6A868-5999-92BA-E5EF-133144AB1C8D}"/>
              </a:ext>
            </a:extLst>
          </p:cNvPr>
          <p:cNvSpPr>
            <a:spLocks noChangeArrowheads="1"/>
          </p:cNvSpPr>
          <p:nvPr/>
        </p:nvSpPr>
        <p:spPr bwMode="auto">
          <a:xfrm>
            <a:off x="457200" y="628649"/>
            <a:ext cx="8991600" cy="7032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Data Mining is the process of extracting </a:t>
            </a:r>
            <a:r>
              <a:rPr lang="en-US" sz="2200" b="1" dirty="0">
                <a:latin typeface="Times New Roman" panose="02020603050405020304" pitchFamily="18" charset="0"/>
                <a:cs typeface="Times New Roman" panose="02020603050405020304" pitchFamily="18" charset="0"/>
              </a:rPr>
              <a:t>useful patterns and knowledge from large datasets</a:t>
            </a:r>
            <a:r>
              <a:rPr lang="en-US" sz="2200" dirty="0">
                <a:latin typeface="Times New Roman" panose="02020603050405020304" pitchFamily="18" charset="0"/>
                <a:cs typeface="Times New Roman" panose="02020603050405020304" pitchFamily="18" charset="0"/>
              </a:rPr>
              <a:t> using machine learning techniques.</a:t>
            </a:r>
          </a:p>
          <a:p>
            <a:pPr marL="0" marR="0" lvl="0" indent="0" algn="l" defTabSz="914400" rtl="0" eaLnBrk="0" fontAlgn="base" latinLnBrk="0" hangingPunct="0">
              <a:lnSpc>
                <a:spcPct val="150000"/>
              </a:lnSpc>
              <a:spcBef>
                <a:spcPct val="0"/>
              </a:spcBef>
              <a:spcAft>
                <a:spcPct val="0"/>
              </a:spcAft>
              <a:buClrTx/>
              <a:buSzTx/>
              <a:tabLst/>
            </a:pPr>
            <a:endParaRPr lang="en-US" sz="2200"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Domain Focus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Educational Data Mining (EDM) helps analyze student characteristics and academic records to identify patterns affecting student success, graduation, or dropout.</a:t>
            </a:r>
          </a:p>
          <a:p>
            <a:pPr marL="0" marR="0" lvl="0" indent="0" algn="l" defTabSz="914400" rtl="0" eaLnBrk="0" fontAlgn="base" latinLnBrk="0" hangingPunct="0">
              <a:lnSpc>
                <a:spcPct val="150000"/>
              </a:lnSpc>
              <a:spcBef>
                <a:spcPct val="0"/>
              </a:spcBef>
              <a:spcAft>
                <a:spcPct val="0"/>
              </a:spcAft>
              <a:buClrTx/>
              <a:buSzTx/>
              <a:tabLst/>
            </a:pP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Problem Statement: </a:t>
            </a:r>
            <a:r>
              <a:rPr lang="en-US" sz="2200" dirty="0">
                <a:latin typeface="Times New Roman" panose="02020603050405020304" pitchFamily="18" charset="0"/>
                <a:cs typeface="Times New Roman" panose="02020603050405020304" pitchFamily="18" charset="0"/>
              </a:rPr>
              <a:t>Student dropout depends on multiple factors such as </a:t>
            </a:r>
            <a:r>
              <a:rPr lang="en-US" sz="2200" b="1" dirty="0">
                <a:latin typeface="Times New Roman" panose="02020603050405020304" pitchFamily="18" charset="0"/>
                <a:cs typeface="Times New Roman" panose="02020603050405020304" pitchFamily="18" charset="0"/>
              </a:rPr>
              <a:t>Academic performance, Course participation, Tuition payment status, Demographic attributes</a:t>
            </a:r>
            <a:r>
              <a:rPr lang="en-US" sz="2200" dirty="0">
                <a:latin typeface="Times New Roman" panose="02020603050405020304" pitchFamily="18" charset="0"/>
                <a:cs typeface="Times New Roman" panose="02020603050405020304" pitchFamily="18" charset="0"/>
              </a:rPr>
              <a:t>. Manual analysis cannot effectively detect these relationships.</a:t>
            </a:r>
          </a:p>
          <a:p>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Goal: </a:t>
            </a:r>
            <a:r>
              <a:rPr lang="en-US" sz="2200" dirty="0">
                <a:latin typeface="Times New Roman" panose="02020603050405020304" pitchFamily="18" charset="0"/>
                <a:cs typeface="Times New Roman" panose="02020603050405020304" pitchFamily="18" charset="0"/>
              </a:rPr>
              <a:t>To build a </a:t>
            </a:r>
            <a:r>
              <a:rPr lang="en-US" sz="2200" b="1" dirty="0">
                <a:latin typeface="Times New Roman" panose="02020603050405020304" pitchFamily="18" charset="0"/>
                <a:cs typeface="Times New Roman" panose="02020603050405020304" pitchFamily="18" charset="0"/>
              </a:rPr>
              <a:t>student insight system using WEKA</a:t>
            </a:r>
            <a:r>
              <a:rPr lang="en-US" sz="2200" dirty="0">
                <a:latin typeface="Times New Roman" panose="02020603050405020304" pitchFamily="18" charset="0"/>
                <a:cs typeface="Times New Roman" panose="02020603050405020304" pitchFamily="18" charset="0"/>
              </a:rPr>
              <a:t> that can:</a:t>
            </a:r>
          </a:p>
          <a:p>
            <a:r>
              <a:rPr lang="en-US" sz="2200" dirty="0">
                <a:latin typeface="Times New Roman" panose="02020603050405020304" pitchFamily="18" charset="0"/>
                <a:cs typeface="Times New Roman" panose="02020603050405020304" pitchFamily="18" charset="0"/>
              </a:rPr>
              <a:t>	- Predict student outcomes</a:t>
            </a:r>
          </a:p>
          <a:p>
            <a:r>
              <a:rPr lang="en-US" sz="2200" dirty="0">
                <a:latin typeface="Times New Roman" panose="02020603050405020304" pitchFamily="18" charset="0"/>
                <a:cs typeface="Times New Roman" panose="02020603050405020304" pitchFamily="18" charset="0"/>
              </a:rPr>
              <a:t>	- Identify factors influencing dropout</a:t>
            </a:r>
          </a:p>
          <a:p>
            <a:r>
              <a:rPr lang="en-US" sz="2200" dirty="0">
                <a:latin typeface="Times New Roman" panose="02020603050405020304" pitchFamily="18" charset="0"/>
                <a:cs typeface="Times New Roman" panose="02020603050405020304" pitchFamily="18" charset="0"/>
              </a:rPr>
              <a:t>	- Group students based on similarity</a:t>
            </a:r>
          </a:p>
          <a:p>
            <a:r>
              <a:rPr lang="en-US" sz="2200" dirty="0">
                <a:latin typeface="Times New Roman" panose="02020603050405020304" pitchFamily="18" charset="0"/>
                <a:cs typeface="Times New Roman" panose="02020603050405020304" pitchFamily="18" charset="0"/>
              </a:rPr>
              <a:t>	- Discover hidden relationships in academic data</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3">
            <a:extLst>
              <a:ext uri="{FF2B5EF4-FFF2-40B4-BE49-F238E27FC236}">
                <a16:creationId xmlns:a16="http://schemas.microsoft.com/office/drawing/2014/main" id="{B0A686C3-D8C4-6247-5D18-DB9B451B7060}"/>
              </a:ext>
            </a:extLst>
          </p:cNvPr>
          <p:cNvGrpSpPr/>
          <p:nvPr/>
        </p:nvGrpSpPr>
        <p:grpSpPr>
          <a:xfrm>
            <a:off x="2634964" y="79842"/>
            <a:ext cx="5103904" cy="1198311"/>
            <a:chOff x="2648188" y="47148"/>
            <a:chExt cx="5103904" cy="1198311"/>
          </a:xfrm>
        </p:grpSpPr>
        <p:pic>
          <p:nvPicPr>
            <p:cNvPr id="3" name="object 4">
              <a:extLst>
                <a:ext uri="{FF2B5EF4-FFF2-40B4-BE49-F238E27FC236}">
                  <a16:creationId xmlns:a16="http://schemas.microsoft.com/office/drawing/2014/main" id="{AAB6571D-EE3C-3F09-50F2-DBDE98655C45}"/>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0190BE47-D723-6C71-DA74-D8341220BCBB}"/>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9128FD2A-3D69-69A4-62B9-C3CFA6A6594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7E317AF7-DE5A-8213-5647-B64A997D2D2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TextBox 11">
            <a:extLst>
              <a:ext uri="{FF2B5EF4-FFF2-40B4-BE49-F238E27FC236}">
                <a16:creationId xmlns:a16="http://schemas.microsoft.com/office/drawing/2014/main" id="{526B6CD6-3C49-CC32-4C53-E233DC27C601}"/>
              </a:ext>
            </a:extLst>
          </p:cNvPr>
          <p:cNvSpPr txBox="1"/>
          <p:nvPr/>
        </p:nvSpPr>
        <p:spPr>
          <a:xfrm>
            <a:off x="3997455" y="315586"/>
            <a:ext cx="22860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 Preprocessing</a:t>
            </a:r>
          </a:p>
        </p:txBody>
      </p:sp>
      <p:pic>
        <p:nvPicPr>
          <p:cNvPr id="13" name="object 3">
            <a:extLst>
              <a:ext uri="{FF2B5EF4-FFF2-40B4-BE49-F238E27FC236}">
                <a16:creationId xmlns:a16="http://schemas.microsoft.com/office/drawing/2014/main" id="{F5E2EE77-59CB-1AE9-9CEE-89BB39A62B06}"/>
              </a:ext>
            </a:extLst>
          </p:cNvPr>
          <p:cNvPicPr/>
          <p:nvPr/>
        </p:nvPicPr>
        <p:blipFill>
          <a:blip r:embed="rId5" cstate="print"/>
          <a:stretch>
            <a:fillRect/>
          </a:stretch>
        </p:blipFill>
        <p:spPr>
          <a:xfrm>
            <a:off x="290750" y="204311"/>
            <a:ext cx="1163002" cy="424338"/>
          </a:xfrm>
          <a:prstGeom prst="rect">
            <a:avLst/>
          </a:prstGeom>
        </p:spPr>
      </p:pic>
      <p:sp>
        <p:nvSpPr>
          <p:cNvPr id="14" name="TextBox 13">
            <a:extLst>
              <a:ext uri="{FF2B5EF4-FFF2-40B4-BE49-F238E27FC236}">
                <a16:creationId xmlns:a16="http://schemas.microsoft.com/office/drawing/2014/main" id="{F73F6589-BFA1-7921-DC13-DD166C4A3C14}"/>
              </a:ext>
            </a:extLst>
          </p:cNvPr>
          <p:cNvSpPr txBox="1"/>
          <p:nvPr/>
        </p:nvSpPr>
        <p:spPr>
          <a:xfrm>
            <a:off x="7868756" y="320752"/>
            <a:ext cx="5029200" cy="669414"/>
          </a:xfrm>
          <a:prstGeom prst="rect">
            <a:avLst/>
          </a:prstGeom>
          <a:noFill/>
        </p:spPr>
        <p:txBody>
          <a:bodyPr wrap="square">
            <a:spAutoFit/>
          </a:bodyPr>
          <a:lstStyle/>
          <a:p>
            <a:r>
              <a:rPr lang="en-IN" sz="1800" b="1" dirty="0">
                <a:solidFill>
                  <a:schemeClr val="bg1"/>
                </a:solidFill>
                <a:latin typeface="Times New Roman" panose="02020603050405020304" pitchFamily="18" charset="0"/>
                <a:cs typeface="Times New Roman" panose="02020603050405020304" pitchFamily="18" charset="0"/>
              </a:rPr>
              <a:t>ANALYSIS</a:t>
            </a:r>
          </a:p>
          <a:p>
            <a:r>
              <a:rPr lang="en-IN" dirty="0">
                <a:solidFill>
                  <a:schemeClr val="bg1"/>
                </a:solidFill>
                <a:latin typeface="Times New Roman" panose="02020603050405020304" pitchFamily="18" charset="0"/>
                <a:cs typeface="Times New Roman" panose="02020603050405020304" pitchFamily="18" charset="0"/>
              </a:rPr>
              <a:t>Data Preprocessing</a:t>
            </a:r>
            <a:endParaRPr lang="en-IN" sz="1800" b="1"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E570743-79C5-948D-25D5-A833C4CB0F69}"/>
              </a:ext>
            </a:extLst>
          </p:cNvPr>
          <p:cNvSpPr txBox="1"/>
          <p:nvPr/>
        </p:nvSpPr>
        <p:spPr>
          <a:xfrm>
            <a:off x="533399" y="869312"/>
            <a:ext cx="8915401" cy="5339923"/>
          </a:xfrm>
          <a:prstGeom prst="rect">
            <a:avLst/>
          </a:prstGeom>
          <a:noFill/>
        </p:spPr>
        <p:txBody>
          <a:bodyPr wrap="square">
            <a:spAutoFit/>
          </a:bodyPr>
          <a:lstStyle/>
          <a:p>
            <a:pPr algn="just">
              <a:lnSpc>
                <a:spcPct val="150000"/>
              </a:lnSpc>
              <a:buNone/>
            </a:pPr>
            <a:r>
              <a:rPr lang="en-US" sz="2200" dirty="0">
                <a:latin typeface="Times New Roman" panose="02020603050405020304" pitchFamily="18" charset="0"/>
                <a:cs typeface="Times New Roman" panose="02020603050405020304" pitchFamily="18" charset="0"/>
              </a:rPr>
              <a:t>Preprocessing is the foundational step to ensure </a:t>
            </a:r>
            <a:r>
              <a:rPr lang="en-US" sz="2200" b="1" dirty="0">
                <a:latin typeface="Times New Roman" panose="02020603050405020304" pitchFamily="18" charset="0"/>
                <a:cs typeface="Times New Roman" panose="02020603050405020304" pitchFamily="18" charset="0"/>
              </a:rPr>
              <a:t>data quality and compatibility with WEKA algorithms</a:t>
            </a:r>
            <a:r>
              <a:rPr lang="en-US" sz="2200" dirty="0">
                <a:latin typeface="Times New Roman" panose="02020603050405020304" pitchFamily="18" charset="0"/>
                <a:cs typeface="Times New Roman" panose="02020603050405020304" pitchFamily="18" charset="0"/>
              </a:rPr>
              <a:t>.</a:t>
            </a:r>
          </a:p>
          <a:p>
            <a:pPr algn="just">
              <a:lnSpc>
                <a:spcPct val="150000"/>
              </a:lnSpc>
              <a:buNone/>
            </a:pP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Dataset Preparation:</a:t>
            </a:r>
            <a:r>
              <a:rPr lang="en-US" sz="2200" dirty="0">
                <a:latin typeface="Times New Roman" panose="02020603050405020304" pitchFamily="18" charset="0"/>
                <a:cs typeface="Times New Roman" panose="02020603050405020304" pitchFamily="18" charset="0"/>
              </a:rPr>
              <a:t> The dataset contains </a:t>
            </a:r>
            <a:r>
              <a:rPr lang="en-US" sz="2200" b="1" dirty="0">
                <a:latin typeface="Times New Roman" panose="02020603050405020304" pitchFamily="18" charset="0"/>
                <a:cs typeface="Times New Roman" panose="02020603050405020304" pitchFamily="18" charset="0"/>
              </a:rPr>
              <a:t>3967 instances and 35 attributes</a:t>
            </a:r>
            <a:r>
              <a:rPr lang="en-US" sz="2200" dirty="0">
                <a:latin typeface="Times New Roman" panose="02020603050405020304" pitchFamily="18" charset="0"/>
                <a:cs typeface="Times New Roman" panose="02020603050405020304" pitchFamily="18" charset="0"/>
              </a:rPr>
              <a:t>, including academic, demographic, and financial indicators.</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Cleaning:</a:t>
            </a:r>
            <a:r>
              <a:rPr lang="en-US" sz="2200" dirty="0">
                <a:latin typeface="Times New Roman" panose="02020603050405020304" pitchFamily="18" charset="0"/>
                <a:cs typeface="Times New Roman" panose="02020603050405020304" pitchFamily="18" charset="0"/>
              </a:rPr>
              <a:t> Missing values were handled using WEKA preprocessing filters.</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Transformation:</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Discretize filter</a:t>
            </a:r>
            <a:r>
              <a:rPr lang="en-US" sz="2200" dirty="0">
                <a:latin typeface="Times New Roman" panose="02020603050405020304" pitchFamily="18" charset="0"/>
                <a:cs typeface="Times New Roman" panose="02020603050405020304" pitchFamily="18" charset="0"/>
              </a:rPr>
              <a:t> was applied to numeric attributes such as curriculum grades and evaluation metrics to convert them into nominal ranges.</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Class Assignment:</a:t>
            </a:r>
            <a:r>
              <a:rPr lang="en-US" sz="2200" dirty="0">
                <a:latin typeface="Times New Roman" panose="02020603050405020304" pitchFamily="18" charset="0"/>
                <a:cs typeface="Times New Roman" panose="02020603050405020304" pitchFamily="18" charset="0"/>
              </a:rPr>
              <a:t> The </a:t>
            </a:r>
            <a:r>
              <a:rPr lang="en-US" sz="2200" b="1" dirty="0">
                <a:latin typeface="Times New Roman" panose="02020603050405020304" pitchFamily="18" charset="0"/>
                <a:cs typeface="Times New Roman" panose="02020603050405020304" pitchFamily="18" charset="0"/>
              </a:rPr>
              <a:t>Target attribute (Dropout, Graduate, Enrolled)</a:t>
            </a:r>
            <a:r>
              <a:rPr lang="en-US" sz="2200" dirty="0">
                <a:latin typeface="Times New Roman" panose="02020603050405020304" pitchFamily="18" charset="0"/>
                <a:cs typeface="Times New Roman" panose="02020603050405020304" pitchFamily="18" charset="0"/>
              </a:rPr>
              <a:t> was selected as the class variable for classification models.</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73076F-4177-9F43-B604-48A4D48A77C3}"/>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pic>
        <p:nvPicPr>
          <p:cNvPr id="3" name="object 3">
            <a:extLst>
              <a:ext uri="{FF2B5EF4-FFF2-40B4-BE49-F238E27FC236}">
                <a16:creationId xmlns:a16="http://schemas.microsoft.com/office/drawing/2014/main" id="{BC608530-1BC9-2F56-7695-00D1305DBE4B}"/>
              </a:ext>
            </a:extLst>
          </p:cNvPr>
          <p:cNvPicPr/>
          <p:nvPr/>
        </p:nvPicPr>
        <p:blipFill>
          <a:blip r:embed="rId2" cstate="print"/>
          <a:stretch>
            <a:fillRect/>
          </a:stretch>
        </p:blipFill>
        <p:spPr>
          <a:xfrm>
            <a:off x="290750" y="204311"/>
            <a:ext cx="1163002" cy="424338"/>
          </a:xfrm>
          <a:prstGeom prst="rect">
            <a:avLst/>
          </a:prstGeom>
        </p:spPr>
      </p:pic>
      <p:grpSp>
        <p:nvGrpSpPr>
          <p:cNvPr id="4" name="object 3">
            <a:extLst>
              <a:ext uri="{FF2B5EF4-FFF2-40B4-BE49-F238E27FC236}">
                <a16:creationId xmlns:a16="http://schemas.microsoft.com/office/drawing/2014/main" id="{615A3BFD-DFEF-74AF-22A6-BCC0B6FB192B}"/>
              </a:ext>
            </a:extLst>
          </p:cNvPr>
          <p:cNvGrpSpPr/>
          <p:nvPr/>
        </p:nvGrpSpPr>
        <p:grpSpPr>
          <a:xfrm>
            <a:off x="2667000" y="29493"/>
            <a:ext cx="5103904" cy="1198311"/>
            <a:chOff x="2648188" y="47148"/>
            <a:chExt cx="5103904" cy="1198311"/>
          </a:xfrm>
        </p:grpSpPr>
        <p:pic>
          <p:nvPicPr>
            <p:cNvPr id="5" name="object 4">
              <a:extLst>
                <a:ext uri="{FF2B5EF4-FFF2-40B4-BE49-F238E27FC236}">
                  <a16:creationId xmlns:a16="http://schemas.microsoft.com/office/drawing/2014/main" id="{83D66381-FA6C-9576-C3BB-E422CD305839}"/>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D0A0DC69-A78F-4323-C18B-DF831B83B636}"/>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E35C9B4-EA1C-F542-15F0-079EFAFE5B00}"/>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A2F0657-F4EA-714B-2BC9-C4888F91409A}"/>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9" name="TextBox 8">
            <a:extLst>
              <a:ext uri="{FF2B5EF4-FFF2-40B4-BE49-F238E27FC236}">
                <a16:creationId xmlns:a16="http://schemas.microsoft.com/office/drawing/2014/main" id="{684DECD3-17DF-D19A-8F46-B4FA9D3FE8A2}"/>
              </a:ext>
            </a:extLst>
          </p:cNvPr>
          <p:cNvSpPr txBox="1"/>
          <p:nvPr/>
        </p:nvSpPr>
        <p:spPr>
          <a:xfrm>
            <a:off x="4178534" y="279294"/>
            <a:ext cx="1923674"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Methodologies</a:t>
            </a:r>
          </a:p>
        </p:txBody>
      </p:sp>
      <p:sp>
        <p:nvSpPr>
          <p:cNvPr id="24" name="TextBox 23">
            <a:extLst>
              <a:ext uri="{FF2B5EF4-FFF2-40B4-BE49-F238E27FC236}">
                <a16:creationId xmlns:a16="http://schemas.microsoft.com/office/drawing/2014/main" id="{56E93ACA-02A5-5759-61F6-677EDD5E9E6C}"/>
              </a:ext>
            </a:extLst>
          </p:cNvPr>
          <p:cNvSpPr txBox="1"/>
          <p:nvPr/>
        </p:nvSpPr>
        <p:spPr>
          <a:xfrm>
            <a:off x="555102" y="1111013"/>
            <a:ext cx="9067799" cy="5847755"/>
          </a:xfrm>
          <a:prstGeom prst="rect">
            <a:avLst/>
          </a:prstGeom>
          <a:noFill/>
        </p:spPr>
        <p:txBody>
          <a:bodyPr wrap="square">
            <a:spAutoFit/>
          </a:bodyPr>
          <a:lstStyle/>
          <a:p>
            <a:r>
              <a:rPr lang="en-US" sz="2200" dirty="0">
                <a:latin typeface="Times New Roman" panose="02020603050405020304" pitchFamily="18" charset="0"/>
                <a:cs typeface="Times New Roman" panose="02020603050405020304" pitchFamily="18" charset="0"/>
              </a:rPr>
              <a:t>The project follows a systematic </a:t>
            </a:r>
            <a:r>
              <a:rPr lang="en-US" sz="2200" b="1" dirty="0">
                <a:latin typeface="Times New Roman" panose="02020603050405020304" pitchFamily="18" charset="0"/>
                <a:cs typeface="Times New Roman" panose="02020603050405020304" pitchFamily="18" charset="0"/>
              </a:rPr>
              <a:t>Knowledge Discovery in Databases (KDD) pipeline</a:t>
            </a:r>
            <a:r>
              <a:rPr lang="en-US" sz="22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Data Integration:</a:t>
            </a:r>
            <a:r>
              <a:rPr lang="en-US" sz="2200" dirty="0">
                <a:latin typeface="Times New Roman" panose="02020603050405020304" pitchFamily="18" charset="0"/>
                <a:cs typeface="Times New Roman" panose="02020603050405020304" pitchFamily="18" charset="0"/>
              </a:rPr>
              <a:t> Student academic records were combined and stored in a unified </a:t>
            </a:r>
            <a:r>
              <a:rPr lang="en-US" sz="2200" b="1" dirty="0">
                <a:latin typeface="Times New Roman" panose="02020603050405020304" pitchFamily="18" charset="0"/>
                <a:cs typeface="Times New Roman" panose="02020603050405020304" pitchFamily="18" charset="0"/>
              </a:rPr>
              <a:t>CSV dataset</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Data Cleaning &amp; Preprocessing:</a:t>
            </a:r>
            <a:r>
              <a:rPr lang="en-US" sz="2200" dirty="0">
                <a:latin typeface="Times New Roman" panose="02020603050405020304" pitchFamily="18" charset="0"/>
                <a:cs typeface="Times New Roman" panose="02020603050405020304" pitchFamily="18" charset="0"/>
              </a:rPr>
              <a:t> The dataset was prepared using WEKA preprocessing tools.</a:t>
            </a:r>
          </a:p>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Data Mining (Core Phase):</a:t>
            </a:r>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 Classification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Predicting student outcomes using machine learning models.</a:t>
            </a:r>
          </a:p>
          <a:p>
            <a:r>
              <a:rPr lang="en-US" sz="2200" b="1" dirty="0">
                <a:latin typeface="Times New Roman" panose="02020603050405020304" pitchFamily="18" charset="0"/>
                <a:cs typeface="Times New Roman" panose="02020603050405020304" pitchFamily="18" charset="0"/>
              </a:rPr>
              <a:t>- Clustering</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Grouping students with similar academic characteristics without predefined labels.</a:t>
            </a:r>
          </a:p>
          <a:p>
            <a:r>
              <a:rPr lang="en-US" sz="2200" b="1" dirty="0">
                <a:latin typeface="Times New Roman" panose="02020603050405020304" pitchFamily="18" charset="0"/>
                <a:cs typeface="Times New Roman" panose="02020603050405020304" pitchFamily="18" charset="0"/>
              </a:rPr>
              <a:t>-Association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Discovering relationships between student attributes.</a:t>
            </a:r>
          </a:p>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Evaluation:</a:t>
            </a:r>
            <a:r>
              <a:rPr lang="en-US" sz="2200" dirty="0">
                <a:latin typeface="Times New Roman" panose="02020603050405020304" pitchFamily="18" charset="0"/>
                <a:cs typeface="Times New Roman" panose="02020603050405020304" pitchFamily="18" charset="0"/>
              </a:rPr>
              <a:t> Models were evaluated using </a:t>
            </a:r>
            <a:r>
              <a:rPr lang="en-US" sz="2200" b="1" dirty="0">
                <a:latin typeface="Times New Roman" panose="02020603050405020304" pitchFamily="18" charset="0"/>
                <a:cs typeface="Times New Roman" panose="02020603050405020304" pitchFamily="18" charset="0"/>
              </a:rPr>
              <a:t>10-fold Cross Validation</a:t>
            </a:r>
            <a:r>
              <a:rPr lang="en-US" sz="2200" dirty="0">
                <a:latin typeface="Times New Roman" panose="02020603050405020304" pitchFamily="18" charset="0"/>
                <a:cs typeface="Times New Roman" panose="02020603050405020304" pitchFamily="18" charset="0"/>
              </a:rPr>
              <a:t> to measure reliability and prediction performance.</a:t>
            </a:r>
          </a:p>
        </p:txBody>
      </p:sp>
    </p:spTree>
    <p:extLst>
      <p:ext uri="{BB962C8B-B14F-4D97-AF65-F5344CB8AC3E}">
        <p14:creationId xmlns:p14="http://schemas.microsoft.com/office/powerpoint/2010/main" val="162633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30A121-7459-5127-9BDA-BA5D387BD704}"/>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5" name="Picture 4">
            <a:extLst>
              <a:ext uri="{FF2B5EF4-FFF2-40B4-BE49-F238E27FC236}">
                <a16:creationId xmlns:a16="http://schemas.microsoft.com/office/drawing/2014/main" id="{8E571F2F-7EBE-CB56-8D17-C5067E3AD8CB}"/>
              </a:ext>
            </a:extLst>
          </p:cNvPr>
          <p:cNvPicPr>
            <a:picLocks noChangeAspect="1"/>
          </p:cNvPicPr>
          <p:nvPr/>
        </p:nvPicPr>
        <p:blipFill>
          <a:blip r:embed="rId3"/>
          <a:stretch>
            <a:fillRect/>
          </a:stretch>
        </p:blipFill>
        <p:spPr>
          <a:xfrm>
            <a:off x="2667000" y="57150"/>
            <a:ext cx="5105400" cy="1200150"/>
          </a:xfrm>
          <a:prstGeom prst="rect">
            <a:avLst/>
          </a:prstGeom>
        </p:spPr>
      </p:pic>
      <p:sp>
        <p:nvSpPr>
          <p:cNvPr id="6" name="TextBox 5">
            <a:extLst>
              <a:ext uri="{FF2B5EF4-FFF2-40B4-BE49-F238E27FC236}">
                <a16:creationId xmlns:a16="http://schemas.microsoft.com/office/drawing/2014/main" id="{0C0BF194-6B70-85AF-8FCE-83A447A01BF1}"/>
              </a:ext>
            </a:extLst>
          </p:cNvPr>
          <p:cNvSpPr txBox="1"/>
          <p:nvPr/>
        </p:nvSpPr>
        <p:spPr>
          <a:xfrm>
            <a:off x="3714750" y="283659"/>
            <a:ext cx="5029200" cy="400110"/>
          </a:xfrm>
          <a:prstGeom prst="rect">
            <a:avLst/>
          </a:prstGeom>
          <a:noFill/>
        </p:spPr>
        <p:txBody>
          <a:bodyPr wrap="square">
            <a:spAutoFit/>
          </a:bodyPr>
          <a:lstStyle/>
          <a:p>
            <a:pPr algn="l">
              <a:buNone/>
            </a:pPr>
            <a:r>
              <a:rPr lang="en-IN" sz="2000" b="1" dirty="0">
                <a:solidFill>
                  <a:srgbClr val="FFFFFF"/>
                </a:solidFill>
                <a:latin typeface="Times New Roman" panose="02020603050405020304" pitchFamily="18" charset="0"/>
                <a:cs typeface="Times New Roman" panose="02020603050405020304" pitchFamily="18" charset="0"/>
              </a:rPr>
              <a:t>       Classification</a:t>
            </a:r>
            <a:endParaRPr lang="en-IN" sz="2000" dirty="0">
              <a:effectLst/>
            </a:endParaRPr>
          </a:p>
        </p:txBody>
      </p:sp>
      <p:sp>
        <p:nvSpPr>
          <p:cNvPr id="8" name="TextBox 7">
            <a:extLst>
              <a:ext uri="{FF2B5EF4-FFF2-40B4-BE49-F238E27FC236}">
                <a16:creationId xmlns:a16="http://schemas.microsoft.com/office/drawing/2014/main" id="{70A3712A-87DF-25C0-AAB4-9A110D591814}"/>
              </a:ext>
            </a:extLst>
          </p:cNvPr>
          <p:cNvSpPr txBox="1"/>
          <p:nvPr/>
        </p:nvSpPr>
        <p:spPr>
          <a:xfrm>
            <a:off x="609600" y="1066800"/>
            <a:ext cx="9067800" cy="6186309"/>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J48 Algorithm (Decision Tree)</a:t>
            </a:r>
          </a:p>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J48 algorithm</a:t>
            </a:r>
            <a:r>
              <a:rPr lang="en-US" sz="2200" dirty="0">
                <a:latin typeface="Times New Roman" panose="02020603050405020304" pitchFamily="18" charset="0"/>
                <a:cs typeface="Times New Roman" panose="02020603050405020304" pitchFamily="18" charset="0"/>
              </a:rPr>
              <a:t> is a supervised learning technique used in this project to classify student academic status based on attributes such as curriculum performance, course enrollment, tuition payment status, and demographic characteristics.</a:t>
            </a:r>
          </a:p>
          <a:p>
            <a:r>
              <a:rPr lang="en-US" sz="2200" b="1" dirty="0">
                <a:latin typeface="Times New Roman" panose="02020603050405020304" pitchFamily="18" charset="0"/>
                <a:cs typeface="Times New Roman" panose="02020603050405020304" pitchFamily="18" charset="0"/>
              </a:rPr>
              <a:t>Mechanism</a:t>
            </a:r>
          </a:p>
          <a:p>
            <a:r>
              <a:rPr lang="en-US" sz="2200" dirty="0">
                <a:latin typeface="Times New Roman" panose="02020603050405020304" pitchFamily="18" charset="0"/>
                <a:cs typeface="Times New Roman" panose="02020603050405020304" pitchFamily="18" charset="0"/>
              </a:rPr>
              <a:t>J48 uses </a:t>
            </a:r>
            <a:r>
              <a:rPr lang="en-US" sz="2200" b="1" dirty="0">
                <a:latin typeface="Times New Roman" panose="02020603050405020304" pitchFamily="18" charset="0"/>
                <a:cs typeface="Times New Roman" panose="02020603050405020304" pitchFamily="18" charset="0"/>
              </a:rPr>
              <a:t>Information Gain</a:t>
            </a:r>
            <a:r>
              <a:rPr lang="en-US" sz="2200" dirty="0">
                <a:latin typeface="Times New Roman" panose="02020603050405020304" pitchFamily="18" charset="0"/>
                <a:cs typeface="Times New Roman" panose="02020603050405020304" pitchFamily="18" charset="0"/>
              </a:rPr>
              <a:t> to select the most important attribute as the root node and splits the data into branches until reaching the final class label.</a:t>
            </a:r>
          </a:p>
          <a:p>
            <a:r>
              <a:rPr lang="en-US" sz="2200" b="1" dirty="0">
                <a:latin typeface="Times New Roman" panose="02020603050405020304" pitchFamily="18" charset="0"/>
                <a:cs typeface="Times New Roman" panose="02020603050405020304" pitchFamily="18" charset="0"/>
              </a:rPr>
              <a:t>Logic Generation</a:t>
            </a:r>
          </a:p>
          <a:p>
            <a:r>
              <a:rPr lang="en-US" sz="2200" dirty="0">
                <a:latin typeface="Times New Roman" panose="02020603050405020304" pitchFamily="18" charset="0"/>
                <a:cs typeface="Times New Roman" panose="02020603050405020304" pitchFamily="18" charset="0"/>
              </a:rPr>
              <a:t>It converts data patterns into simple </a:t>
            </a:r>
            <a:r>
              <a:rPr lang="en-US" sz="2200" b="1" dirty="0">
                <a:latin typeface="Times New Roman" panose="02020603050405020304" pitchFamily="18" charset="0"/>
                <a:cs typeface="Times New Roman" panose="02020603050405020304" pitchFamily="18" charset="0"/>
              </a:rPr>
              <a:t>IF–THEN decision rules</a:t>
            </a:r>
            <a:r>
              <a:rPr lang="en-US" sz="2200" dirty="0">
                <a:latin typeface="Times New Roman" panose="02020603050405020304" pitchFamily="18" charset="0"/>
                <a:cs typeface="Times New Roman" panose="02020603050405020304" pitchFamily="18" charset="0"/>
              </a:rPr>
              <a:t> that explain how different attributes influence student outcomes.</a:t>
            </a:r>
          </a:p>
          <a:p>
            <a:r>
              <a:rPr lang="en-US" sz="2200" b="1" dirty="0">
                <a:latin typeface="Times New Roman" panose="02020603050405020304" pitchFamily="18" charset="0"/>
                <a:cs typeface="Times New Roman" panose="02020603050405020304" pitchFamily="18" charset="0"/>
              </a:rPr>
              <a:t>Key Advantage</a:t>
            </a:r>
          </a:p>
          <a:p>
            <a:r>
              <a:rPr lang="en-US" sz="2200" b="1" dirty="0">
                <a:latin typeface="Times New Roman" panose="02020603050405020304" pitchFamily="18" charset="0"/>
                <a:cs typeface="Times New Roman" panose="02020603050405020304" pitchFamily="18" charset="0"/>
              </a:rPr>
              <a:t>High Interpretability.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Decision trees allow easy understanding of the factors affecting student dropout or graduation.</a:t>
            </a:r>
          </a:p>
          <a:p>
            <a:r>
              <a:rPr lang="en-US" sz="2200" b="1" dirty="0">
                <a:latin typeface="Times New Roman" panose="02020603050405020304" pitchFamily="18" charset="0"/>
                <a:cs typeface="Times New Roman" panose="02020603050405020304" pitchFamily="18" charset="0"/>
              </a:rPr>
              <a:t>Performance</a:t>
            </a:r>
          </a:p>
          <a:p>
            <a:r>
              <a:rPr lang="en-US" sz="2200" dirty="0">
                <a:latin typeface="Times New Roman" panose="02020603050405020304" pitchFamily="18" charset="0"/>
                <a:cs typeface="Times New Roman" panose="02020603050405020304" pitchFamily="18" charset="0"/>
              </a:rPr>
              <a:t>J48 provides clear decision rules but may sometimes suffer from </a:t>
            </a:r>
            <a:r>
              <a:rPr lang="en-US" sz="2200" b="1" dirty="0">
                <a:latin typeface="Times New Roman" panose="02020603050405020304" pitchFamily="18" charset="0"/>
                <a:cs typeface="Times New Roman" panose="02020603050405020304" pitchFamily="18" charset="0"/>
              </a:rPr>
              <a:t>overfitting</a:t>
            </a:r>
            <a:r>
              <a:rPr lang="en-US" sz="2200" dirty="0">
                <a:latin typeface="Times New Roman" panose="02020603050405020304" pitchFamily="18" charset="0"/>
                <a:cs typeface="Times New Roman" panose="02020603050405020304" pitchFamily="18" charset="0"/>
              </a:rPr>
              <a:t>, which can affect performance on unseen data.</a:t>
            </a:r>
          </a:p>
        </p:txBody>
      </p:sp>
    </p:spTree>
    <p:extLst>
      <p:ext uri="{BB962C8B-B14F-4D97-AF65-F5344CB8AC3E}">
        <p14:creationId xmlns:p14="http://schemas.microsoft.com/office/powerpoint/2010/main" val="1887052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DC8C8FD6-E586-8FED-7941-9916A921F8C8}"/>
              </a:ext>
            </a:extLst>
          </p:cNvPr>
          <p:cNvGrpSpPr/>
          <p:nvPr/>
        </p:nvGrpSpPr>
        <p:grpSpPr>
          <a:xfrm>
            <a:off x="2477248" y="152400"/>
            <a:ext cx="5103904" cy="1198311"/>
            <a:chOff x="2648188" y="47148"/>
            <a:chExt cx="5103904" cy="1198311"/>
          </a:xfrm>
        </p:grpSpPr>
        <p:pic>
          <p:nvPicPr>
            <p:cNvPr id="5" name="object 4">
              <a:extLst>
                <a:ext uri="{FF2B5EF4-FFF2-40B4-BE49-F238E27FC236}">
                  <a16:creationId xmlns:a16="http://schemas.microsoft.com/office/drawing/2014/main" id="{B8C94948-67C7-F808-8CF3-30437D13996E}"/>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22E7BA6-6DF0-69BC-7264-351DB933B35E}"/>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B0032EC-8A24-C113-C318-D4E45E322128}"/>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B9C4FB3-C643-2633-2BA2-309756AAE8F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a:extLst>
              <a:ext uri="{FF2B5EF4-FFF2-40B4-BE49-F238E27FC236}">
                <a16:creationId xmlns:a16="http://schemas.microsoft.com/office/drawing/2014/main" id="{04F8D666-BE30-61F2-B01D-A2253FE838C6}"/>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J48  OUTPUT</a:t>
            </a:r>
          </a:p>
        </p:txBody>
      </p:sp>
      <p:pic>
        <p:nvPicPr>
          <p:cNvPr id="10" name="object 3">
            <a:extLst>
              <a:ext uri="{FF2B5EF4-FFF2-40B4-BE49-F238E27FC236}">
                <a16:creationId xmlns:a16="http://schemas.microsoft.com/office/drawing/2014/main" id="{4A8AF524-8184-EEEE-A10C-EA0323BA18CA}"/>
              </a:ext>
            </a:extLst>
          </p:cNvPr>
          <p:cNvPicPr/>
          <p:nvPr/>
        </p:nvPicPr>
        <p:blipFill>
          <a:blip r:embed="rId5" cstate="print"/>
          <a:stretch>
            <a:fillRect/>
          </a:stretch>
        </p:blipFill>
        <p:spPr>
          <a:xfrm>
            <a:off x="290750" y="204311"/>
            <a:ext cx="1163002" cy="424338"/>
          </a:xfrm>
          <a:prstGeom prst="rect">
            <a:avLst/>
          </a:prstGeom>
        </p:spPr>
      </p:pic>
      <p:pic>
        <p:nvPicPr>
          <p:cNvPr id="2" name="Picture 1">
            <a:extLst>
              <a:ext uri="{FF2B5EF4-FFF2-40B4-BE49-F238E27FC236}">
                <a16:creationId xmlns:a16="http://schemas.microsoft.com/office/drawing/2014/main" id="{26BB9933-32BF-1814-3DD8-A62FD69AF87A}"/>
              </a:ext>
            </a:extLst>
          </p:cNvPr>
          <p:cNvPicPr>
            <a:picLocks noChangeAspect="1"/>
          </p:cNvPicPr>
          <p:nvPr/>
        </p:nvPicPr>
        <p:blipFill>
          <a:blip r:embed="rId6"/>
          <a:stretch>
            <a:fillRect/>
          </a:stretch>
        </p:blipFill>
        <p:spPr>
          <a:xfrm>
            <a:off x="-8378" y="1143000"/>
            <a:ext cx="10066778" cy="5481837"/>
          </a:xfrm>
          <a:prstGeom prst="rect">
            <a:avLst/>
          </a:prstGeom>
        </p:spPr>
      </p:pic>
    </p:spTree>
    <p:extLst>
      <p:ext uri="{BB962C8B-B14F-4D97-AF65-F5344CB8AC3E}">
        <p14:creationId xmlns:p14="http://schemas.microsoft.com/office/powerpoint/2010/main" val="1406537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2C2120BA-3085-9FE8-06E4-5148BD138EC3}"/>
              </a:ext>
            </a:extLst>
          </p:cNvPr>
          <p:cNvPicPr/>
          <p:nvPr/>
        </p:nvPicPr>
        <p:blipFill>
          <a:blip r:embed="rId2" cstate="print"/>
          <a:stretch>
            <a:fillRect/>
          </a:stretch>
        </p:blipFill>
        <p:spPr>
          <a:xfrm>
            <a:off x="290750" y="204311"/>
            <a:ext cx="1163002" cy="424338"/>
          </a:xfrm>
          <a:prstGeom prst="rect">
            <a:avLst/>
          </a:prstGeom>
        </p:spPr>
      </p:pic>
      <p:pic>
        <p:nvPicPr>
          <p:cNvPr id="5" name="Picture 4">
            <a:extLst>
              <a:ext uri="{FF2B5EF4-FFF2-40B4-BE49-F238E27FC236}">
                <a16:creationId xmlns:a16="http://schemas.microsoft.com/office/drawing/2014/main" id="{1CB14CD5-7EAF-71BD-324A-8CC34303278D}"/>
              </a:ext>
            </a:extLst>
          </p:cNvPr>
          <p:cNvPicPr>
            <a:picLocks noChangeAspect="1"/>
          </p:cNvPicPr>
          <p:nvPr/>
        </p:nvPicPr>
        <p:blipFill>
          <a:blip r:embed="rId3"/>
          <a:stretch>
            <a:fillRect/>
          </a:stretch>
        </p:blipFill>
        <p:spPr>
          <a:xfrm>
            <a:off x="2743200" y="19050"/>
            <a:ext cx="5105400" cy="1200150"/>
          </a:xfrm>
          <a:prstGeom prst="rect">
            <a:avLst/>
          </a:prstGeom>
        </p:spPr>
      </p:pic>
      <p:sp>
        <p:nvSpPr>
          <p:cNvPr id="11" name="TextBox 10">
            <a:extLst>
              <a:ext uri="{FF2B5EF4-FFF2-40B4-BE49-F238E27FC236}">
                <a16:creationId xmlns:a16="http://schemas.microsoft.com/office/drawing/2014/main" id="{622ADB9C-6F30-C4C2-83C7-A2FFAF767CB1}"/>
              </a:ext>
            </a:extLst>
          </p:cNvPr>
          <p:cNvSpPr txBox="1"/>
          <p:nvPr/>
        </p:nvSpPr>
        <p:spPr>
          <a:xfrm>
            <a:off x="3733800" y="299536"/>
            <a:ext cx="2971800" cy="369332"/>
          </a:xfrm>
          <a:prstGeom prst="rect">
            <a:avLst/>
          </a:prstGeom>
          <a:noFill/>
        </p:spPr>
        <p:txBody>
          <a:bodyPr wrap="square">
            <a:spAutoFit/>
          </a:bodyPr>
          <a:lstStyle/>
          <a:p>
            <a:pPr algn="ctr"/>
            <a:r>
              <a:rPr lang="en-US" sz="1800" b="1" dirty="0">
                <a:solidFill>
                  <a:schemeClr val="bg1"/>
                </a:solidFill>
                <a:latin typeface="Times New Roman" panose="02020603050405020304" pitchFamily="18" charset="0"/>
                <a:cs typeface="Times New Roman" panose="02020603050405020304" pitchFamily="18" charset="0"/>
              </a:rPr>
              <a:t>J48 TREE OUTPUT</a:t>
            </a:r>
            <a:endParaRPr lang="en-IN" sz="1800" b="1"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0E4F95C-CEA9-2F3D-65E8-7422334353F4}"/>
              </a:ext>
            </a:extLst>
          </p:cNvPr>
          <p:cNvPicPr>
            <a:picLocks noChangeAspect="1"/>
          </p:cNvPicPr>
          <p:nvPr/>
        </p:nvPicPr>
        <p:blipFill>
          <a:blip r:embed="rId4"/>
          <a:stretch>
            <a:fillRect/>
          </a:stretch>
        </p:blipFill>
        <p:spPr>
          <a:xfrm>
            <a:off x="76200" y="1485830"/>
            <a:ext cx="9982200" cy="5500905"/>
          </a:xfrm>
          <a:prstGeom prst="rect">
            <a:avLst/>
          </a:prstGeom>
        </p:spPr>
      </p:pic>
    </p:spTree>
    <p:extLst>
      <p:ext uri="{BB962C8B-B14F-4D97-AF65-F5344CB8AC3E}">
        <p14:creationId xmlns:p14="http://schemas.microsoft.com/office/powerpoint/2010/main" val="3998325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99F748-1117-C168-964C-550AA43FE1AB}"/>
              </a:ext>
            </a:extLst>
          </p:cNvPr>
          <p:cNvPicPr>
            <a:picLocks noChangeAspect="1"/>
          </p:cNvPicPr>
          <p:nvPr/>
        </p:nvPicPr>
        <p:blipFill>
          <a:blip r:embed="rId2"/>
          <a:stretch>
            <a:fillRect/>
          </a:stretch>
        </p:blipFill>
        <p:spPr>
          <a:xfrm>
            <a:off x="152400" y="228600"/>
            <a:ext cx="1162050" cy="428625"/>
          </a:xfrm>
          <a:prstGeom prst="rect">
            <a:avLst/>
          </a:prstGeom>
        </p:spPr>
      </p:pic>
      <p:pic>
        <p:nvPicPr>
          <p:cNvPr id="7" name="Picture 6">
            <a:extLst>
              <a:ext uri="{FF2B5EF4-FFF2-40B4-BE49-F238E27FC236}">
                <a16:creationId xmlns:a16="http://schemas.microsoft.com/office/drawing/2014/main" id="{DA692544-9DAA-0EE0-5765-0D410B755497}"/>
              </a:ext>
            </a:extLst>
          </p:cNvPr>
          <p:cNvPicPr>
            <a:picLocks noChangeAspect="1"/>
          </p:cNvPicPr>
          <p:nvPr/>
        </p:nvPicPr>
        <p:blipFill>
          <a:blip r:embed="rId3"/>
          <a:stretch>
            <a:fillRect/>
          </a:stretch>
        </p:blipFill>
        <p:spPr>
          <a:xfrm>
            <a:off x="2667000" y="57150"/>
            <a:ext cx="5105400" cy="1200150"/>
          </a:xfrm>
          <a:prstGeom prst="rect">
            <a:avLst/>
          </a:prstGeom>
        </p:spPr>
      </p:pic>
      <p:sp>
        <p:nvSpPr>
          <p:cNvPr id="8" name="TextBox 7">
            <a:extLst>
              <a:ext uri="{FF2B5EF4-FFF2-40B4-BE49-F238E27FC236}">
                <a16:creationId xmlns:a16="http://schemas.microsoft.com/office/drawing/2014/main" id="{0597CD15-880C-E6A7-BD83-8259FBBE7DF3}"/>
              </a:ext>
            </a:extLst>
          </p:cNvPr>
          <p:cNvSpPr txBox="1"/>
          <p:nvPr/>
        </p:nvSpPr>
        <p:spPr>
          <a:xfrm>
            <a:off x="3714750" y="283659"/>
            <a:ext cx="5029200" cy="400110"/>
          </a:xfrm>
          <a:prstGeom prst="rect">
            <a:avLst/>
          </a:prstGeom>
          <a:noFill/>
        </p:spPr>
        <p:txBody>
          <a:bodyPr wrap="square">
            <a:spAutoFit/>
          </a:bodyPr>
          <a:lstStyle/>
          <a:p>
            <a:pPr>
              <a:buNone/>
            </a:pPr>
            <a:r>
              <a:rPr lang="en-IN" sz="2000" b="1" dirty="0">
                <a:solidFill>
                  <a:srgbClr val="FFFFFF"/>
                </a:solidFill>
                <a:latin typeface="Times New Roman" panose="02020603050405020304" pitchFamily="18" charset="0"/>
                <a:cs typeface="Times New Roman" panose="02020603050405020304" pitchFamily="18" charset="0"/>
              </a:rPr>
              <a:t>      Classification</a:t>
            </a:r>
            <a:endParaRPr lang="en-IN" sz="2000" dirty="0">
              <a:effectLst/>
            </a:endParaRPr>
          </a:p>
        </p:txBody>
      </p:sp>
      <p:sp>
        <p:nvSpPr>
          <p:cNvPr id="19" name="TextBox 18">
            <a:extLst>
              <a:ext uri="{FF2B5EF4-FFF2-40B4-BE49-F238E27FC236}">
                <a16:creationId xmlns:a16="http://schemas.microsoft.com/office/drawing/2014/main" id="{D5B57076-DCE8-C960-F35D-4C359D62573F}"/>
              </a:ext>
            </a:extLst>
          </p:cNvPr>
          <p:cNvSpPr txBox="1"/>
          <p:nvPr/>
        </p:nvSpPr>
        <p:spPr>
          <a:xfrm>
            <a:off x="685800" y="1134493"/>
            <a:ext cx="8686800" cy="6524863"/>
          </a:xfrm>
          <a:prstGeom prst="rect">
            <a:avLst/>
          </a:prstGeom>
          <a:noFill/>
        </p:spPr>
        <p:txBody>
          <a:bodyPr wrap="square">
            <a:spAutoFit/>
          </a:bodyPr>
          <a:lstStyle/>
          <a:p>
            <a:r>
              <a:rPr lang="en-US" sz="2200" b="1" dirty="0">
                <a:latin typeface="Times New Roman" panose="02020603050405020304" pitchFamily="18" charset="0"/>
                <a:cs typeface="Times New Roman" panose="02020603050405020304" pitchFamily="18" charset="0"/>
              </a:rPr>
              <a:t>Random Forest Algorithm</a:t>
            </a:r>
          </a:p>
          <a:p>
            <a:r>
              <a:rPr lang="en-US" sz="2200" dirty="0">
                <a:latin typeface="Times New Roman" panose="02020603050405020304" pitchFamily="18" charset="0"/>
                <a:cs typeface="Times New Roman" panose="02020603050405020304" pitchFamily="18" charset="0"/>
              </a:rPr>
              <a:t>Random Forest is an advanced </a:t>
            </a:r>
            <a:r>
              <a:rPr lang="en-US" sz="2200" b="1" dirty="0">
                <a:latin typeface="Times New Roman" panose="02020603050405020304" pitchFamily="18" charset="0"/>
                <a:cs typeface="Times New Roman" panose="02020603050405020304" pitchFamily="18" charset="0"/>
              </a:rPr>
              <a:t>Ensemble Learning method</a:t>
            </a:r>
            <a:r>
              <a:rPr lang="en-US" sz="2200" dirty="0">
                <a:latin typeface="Times New Roman" panose="02020603050405020304" pitchFamily="18" charset="0"/>
                <a:cs typeface="Times New Roman" panose="02020603050405020304" pitchFamily="18" charset="0"/>
              </a:rPr>
              <a:t> used to predict student outcomes with improved accuracy. It combines multiple decision trees to produce a more reliable prediction.</a:t>
            </a:r>
          </a:p>
          <a:p>
            <a:r>
              <a:rPr lang="en-US" sz="2200" b="1" dirty="0">
                <a:latin typeface="Times New Roman" panose="02020603050405020304" pitchFamily="18" charset="0"/>
                <a:cs typeface="Times New Roman" panose="02020603050405020304" pitchFamily="18" charset="0"/>
              </a:rPr>
              <a:t>Mechanism</a:t>
            </a:r>
          </a:p>
          <a:p>
            <a:r>
              <a:rPr lang="en-US" sz="2200" dirty="0">
                <a:latin typeface="Times New Roman" panose="02020603050405020304" pitchFamily="18" charset="0"/>
                <a:cs typeface="Times New Roman" panose="02020603050405020304" pitchFamily="18" charset="0"/>
              </a:rPr>
              <a:t>Instead of building a single decision tree like J48, Random Forest constructs many trees using random subsets of the dataset and attributes.</a:t>
            </a:r>
          </a:p>
          <a:p>
            <a:r>
              <a:rPr lang="en-US" sz="2200" b="1" dirty="0">
                <a:latin typeface="Times New Roman" panose="02020603050405020304" pitchFamily="18" charset="0"/>
                <a:cs typeface="Times New Roman" panose="02020603050405020304" pitchFamily="18" charset="0"/>
              </a:rPr>
              <a:t>Voting System</a:t>
            </a:r>
          </a:p>
          <a:p>
            <a:r>
              <a:rPr lang="en-US" sz="2200" dirty="0">
                <a:latin typeface="Times New Roman" panose="02020603050405020304" pitchFamily="18" charset="0"/>
                <a:cs typeface="Times New Roman" panose="02020603050405020304" pitchFamily="18" charset="0"/>
              </a:rPr>
              <a:t>Each tree predicts a student outcome (Dropout, Graduate, or Enrolled), and the final prediction is determined using </a:t>
            </a:r>
            <a:r>
              <a:rPr lang="en-US" sz="2200" b="1" dirty="0">
                <a:latin typeface="Times New Roman" panose="02020603050405020304" pitchFamily="18" charset="0"/>
                <a:cs typeface="Times New Roman" panose="02020603050405020304" pitchFamily="18" charset="0"/>
              </a:rPr>
              <a:t>majority voting</a:t>
            </a:r>
            <a:r>
              <a:rPr lang="en-US" sz="2200" dirty="0">
                <a:latin typeface="Times New Roman" panose="02020603050405020304" pitchFamily="18" charset="0"/>
                <a:cs typeface="Times New Roman" panose="02020603050405020304" pitchFamily="18" charset="0"/>
              </a:rPr>
              <a:t> among all trees.</a:t>
            </a:r>
          </a:p>
          <a:p>
            <a:r>
              <a:rPr lang="en-US" sz="2200" b="1" dirty="0">
                <a:latin typeface="Times New Roman" panose="02020603050405020304" pitchFamily="18" charset="0"/>
                <a:cs typeface="Times New Roman" panose="02020603050405020304" pitchFamily="18" charset="0"/>
              </a:rPr>
              <a:t>Why It Works</a:t>
            </a:r>
          </a:p>
          <a:p>
            <a:r>
              <a:rPr lang="en-US" sz="2200" dirty="0">
                <a:latin typeface="Times New Roman" panose="02020603050405020304" pitchFamily="18" charset="0"/>
                <a:cs typeface="Times New Roman" panose="02020603050405020304" pitchFamily="18" charset="0"/>
              </a:rPr>
              <a:t>By combining multiple trees, Random Forest reduces overfitting and improves predictive stability.</a:t>
            </a:r>
          </a:p>
          <a:p>
            <a:r>
              <a:rPr lang="en-US" sz="2200" b="1" dirty="0">
                <a:latin typeface="Times New Roman" panose="02020603050405020304" pitchFamily="18" charset="0"/>
                <a:cs typeface="Times New Roman" panose="02020603050405020304" pitchFamily="18" charset="0"/>
              </a:rPr>
              <a:t>Experimental Result</a:t>
            </a:r>
          </a:p>
          <a:p>
            <a:r>
              <a:rPr lang="en-US" sz="2200" dirty="0">
                <a:latin typeface="Times New Roman" panose="02020603050405020304" pitchFamily="18" charset="0"/>
                <a:cs typeface="Times New Roman" panose="02020603050405020304" pitchFamily="18" charset="0"/>
              </a:rPr>
              <a:t>Random Forest achieved an accuracy of </a:t>
            </a:r>
            <a:r>
              <a:rPr lang="en-US" sz="2200" b="1" dirty="0">
                <a:latin typeface="Times New Roman" panose="02020603050405020304" pitchFamily="18" charset="0"/>
                <a:cs typeface="Times New Roman" panose="02020603050405020304" pitchFamily="18" charset="0"/>
              </a:rPr>
              <a:t>approximately 74.6%</a:t>
            </a:r>
            <a:r>
              <a:rPr lang="en-US" sz="2200" dirty="0">
                <a:latin typeface="Times New Roman" panose="02020603050405020304" pitchFamily="18" charset="0"/>
                <a:cs typeface="Times New Roman" panose="02020603050405020304" pitchFamily="18" charset="0"/>
              </a:rPr>
              <a:t> using cross-validation, outperforming the single decision tree model.</a:t>
            </a:r>
          </a:p>
          <a:p>
            <a:r>
              <a:rPr lang="en-US" sz="2200" b="1" dirty="0">
                <a:latin typeface="Times New Roman" panose="02020603050405020304" pitchFamily="18" charset="0"/>
                <a:cs typeface="Times New Roman" panose="02020603050405020304" pitchFamily="18" charset="0"/>
              </a:rPr>
              <a:t>Conclusion</a:t>
            </a:r>
          </a:p>
          <a:p>
            <a:r>
              <a:rPr lang="en-US" sz="2200" dirty="0">
                <a:latin typeface="Times New Roman" panose="02020603050405020304" pitchFamily="18" charset="0"/>
                <a:cs typeface="Times New Roman" panose="02020603050405020304" pitchFamily="18" charset="0"/>
              </a:rPr>
              <a:t>Random Forest provides the </a:t>
            </a:r>
            <a:r>
              <a:rPr lang="en-US" sz="2200" b="1" dirty="0">
                <a:latin typeface="Times New Roman" panose="02020603050405020304" pitchFamily="18" charset="0"/>
                <a:cs typeface="Times New Roman" panose="02020603050405020304" pitchFamily="18" charset="0"/>
              </a:rPr>
              <a:t>most reliable prediction performance</a:t>
            </a:r>
            <a:r>
              <a:rPr lang="en-US" sz="2200" dirty="0">
                <a:latin typeface="Times New Roman" panose="02020603050405020304" pitchFamily="18" charset="0"/>
                <a:cs typeface="Times New Roman" panose="02020603050405020304" pitchFamily="18" charset="0"/>
              </a:rPr>
              <a:t>, although it is harder to interpret compared to a single decision tree.</a:t>
            </a:r>
          </a:p>
        </p:txBody>
      </p:sp>
    </p:spTree>
    <p:extLst>
      <p:ext uri="{BB962C8B-B14F-4D97-AF65-F5344CB8AC3E}">
        <p14:creationId xmlns:p14="http://schemas.microsoft.com/office/powerpoint/2010/main" val="303308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0073E14B-B9ED-221E-C15D-31B571A96766}"/>
              </a:ext>
            </a:extLst>
          </p:cNvPr>
          <p:cNvSpPr txBox="1">
            <a:spLocks noGrp="1"/>
          </p:cNvSpPr>
          <p:nvPr>
            <p:ph type="title"/>
          </p:nvPr>
        </p:nvSpPr>
        <p:spPr>
          <a:xfrm>
            <a:off x="3945255" y="529682"/>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5" name="object 3">
            <a:extLst>
              <a:ext uri="{FF2B5EF4-FFF2-40B4-BE49-F238E27FC236}">
                <a16:creationId xmlns:a16="http://schemas.microsoft.com/office/drawing/2014/main" id="{C9372382-FE0A-A567-4F16-4BD60708DBA6}"/>
              </a:ext>
            </a:extLst>
          </p:cNvPr>
          <p:cNvPicPr/>
          <p:nvPr/>
        </p:nvPicPr>
        <p:blipFill>
          <a:blip r:embed="rId2" cstate="print"/>
          <a:stretch>
            <a:fillRect/>
          </a:stretch>
        </p:blipFill>
        <p:spPr>
          <a:xfrm>
            <a:off x="290750" y="301400"/>
            <a:ext cx="1163002" cy="424338"/>
          </a:xfrm>
          <a:prstGeom prst="rect">
            <a:avLst/>
          </a:prstGeom>
        </p:spPr>
      </p:pic>
      <p:grpSp>
        <p:nvGrpSpPr>
          <p:cNvPr id="6" name="object 3">
            <a:extLst>
              <a:ext uri="{FF2B5EF4-FFF2-40B4-BE49-F238E27FC236}">
                <a16:creationId xmlns:a16="http://schemas.microsoft.com/office/drawing/2014/main" id="{822A830D-485A-89F2-CCC1-E51C7D5C46B7}"/>
              </a:ext>
            </a:extLst>
          </p:cNvPr>
          <p:cNvGrpSpPr/>
          <p:nvPr/>
        </p:nvGrpSpPr>
        <p:grpSpPr>
          <a:xfrm>
            <a:off x="2477248" y="249489"/>
            <a:ext cx="5103904" cy="1198311"/>
            <a:chOff x="2648188" y="47148"/>
            <a:chExt cx="5103904" cy="1198311"/>
          </a:xfrm>
        </p:grpSpPr>
        <p:pic>
          <p:nvPicPr>
            <p:cNvPr id="7" name="object 4">
              <a:extLst>
                <a:ext uri="{FF2B5EF4-FFF2-40B4-BE49-F238E27FC236}">
                  <a16:creationId xmlns:a16="http://schemas.microsoft.com/office/drawing/2014/main" id="{2FC287C4-2473-3DE1-5FA4-C45BBA980051}"/>
                </a:ext>
              </a:extLst>
            </p:cNvPr>
            <p:cNvPicPr/>
            <p:nvPr/>
          </p:nvPicPr>
          <p:blipFill>
            <a:blip r:embed="rId3" cstate="print"/>
            <a:stretch>
              <a:fillRect/>
            </a:stretch>
          </p:blipFill>
          <p:spPr>
            <a:xfrm>
              <a:off x="2648188" y="47148"/>
              <a:ext cx="5103904" cy="1198311"/>
            </a:xfrm>
            <a:prstGeom prst="rect">
              <a:avLst/>
            </a:prstGeom>
          </p:spPr>
        </p:pic>
        <p:pic>
          <p:nvPicPr>
            <p:cNvPr id="8" name="object 5">
              <a:extLst>
                <a:ext uri="{FF2B5EF4-FFF2-40B4-BE49-F238E27FC236}">
                  <a16:creationId xmlns:a16="http://schemas.microsoft.com/office/drawing/2014/main" id="{1076042F-43D5-6C2E-20C7-EFC79FCBA52A}"/>
                </a:ext>
              </a:extLst>
            </p:cNvPr>
            <p:cNvPicPr/>
            <p:nvPr/>
          </p:nvPicPr>
          <p:blipFill>
            <a:blip r:embed="rId4" cstate="print"/>
            <a:stretch>
              <a:fillRect/>
            </a:stretch>
          </p:blipFill>
          <p:spPr>
            <a:xfrm>
              <a:off x="2703195" y="86439"/>
              <a:ext cx="4997767" cy="1092279"/>
            </a:xfrm>
            <a:prstGeom prst="rect">
              <a:avLst/>
            </a:prstGeom>
          </p:spPr>
        </p:pic>
        <p:pic>
          <p:nvPicPr>
            <p:cNvPr id="9" name="object 6">
              <a:extLst>
                <a:ext uri="{FF2B5EF4-FFF2-40B4-BE49-F238E27FC236}">
                  <a16:creationId xmlns:a16="http://schemas.microsoft.com/office/drawing/2014/main" id="{EA397C2B-A65B-DE92-F3A7-3D23223B6317}"/>
                </a:ext>
              </a:extLst>
            </p:cNvPr>
            <p:cNvPicPr/>
            <p:nvPr/>
          </p:nvPicPr>
          <p:blipFill>
            <a:blip r:embed="rId5" cstate="print"/>
            <a:stretch>
              <a:fillRect/>
            </a:stretch>
          </p:blipFill>
          <p:spPr>
            <a:xfrm>
              <a:off x="2828925" y="243549"/>
              <a:ext cx="4585268" cy="522565"/>
            </a:xfrm>
            <a:prstGeom prst="rect">
              <a:avLst/>
            </a:prstGeom>
          </p:spPr>
        </p:pic>
        <p:sp>
          <p:nvSpPr>
            <p:cNvPr id="10" name="object 7">
              <a:extLst>
                <a:ext uri="{FF2B5EF4-FFF2-40B4-BE49-F238E27FC236}">
                  <a16:creationId xmlns:a16="http://schemas.microsoft.com/office/drawing/2014/main" id="{49058CCF-917D-3942-AA2E-B27AEDDBB9C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000" b="1" dirty="0">
                  <a:solidFill>
                    <a:schemeClr val="bg1"/>
                  </a:solidFill>
                  <a:latin typeface="Times New Roman" panose="02020603050405020304" pitchFamily="18" charset="0"/>
                  <a:cs typeface="Times New Roman" panose="02020603050405020304" pitchFamily="18" charset="0"/>
                </a:rPr>
                <a:t>    RANDOM FOREST OUTPUT</a:t>
              </a:r>
              <a:endParaRPr sz="2000" b="1" dirty="0">
                <a:solidFill>
                  <a:schemeClr val="bg1"/>
                </a:solidFill>
                <a:latin typeface="Times New Roman" panose="02020603050405020304" pitchFamily="18" charset="0"/>
                <a:cs typeface="Times New Roman" panose="02020603050405020304" pitchFamily="18" charset="0"/>
              </a:endParaRPr>
            </a:p>
          </p:txBody>
        </p:sp>
      </p:grpSp>
      <p:pic>
        <p:nvPicPr>
          <p:cNvPr id="2" name="Picture 1">
            <a:extLst>
              <a:ext uri="{FF2B5EF4-FFF2-40B4-BE49-F238E27FC236}">
                <a16:creationId xmlns:a16="http://schemas.microsoft.com/office/drawing/2014/main" id="{AF4206F0-0F79-1263-2A89-07AA52B00C18}"/>
              </a:ext>
            </a:extLst>
          </p:cNvPr>
          <p:cNvPicPr>
            <a:picLocks noChangeAspect="1"/>
          </p:cNvPicPr>
          <p:nvPr/>
        </p:nvPicPr>
        <p:blipFill>
          <a:blip r:embed="rId6"/>
          <a:stretch>
            <a:fillRect/>
          </a:stretch>
        </p:blipFill>
        <p:spPr>
          <a:xfrm>
            <a:off x="-23604" y="1538169"/>
            <a:ext cx="10082004" cy="4685094"/>
          </a:xfrm>
          <a:prstGeom prst="rect">
            <a:avLst/>
          </a:prstGeom>
        </p:spPr>
      </p:pic>
    </p:spTree>
    <p:extLst>
      <p:ext uri="{BB962C8B-B14F-4D97-AF65-F5344CB8AC3E}">
        <p14:creationId xmlns:p14="http://schemas.microsoft.com/office/powerpoint/2010/main" val="985145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C519FC-F734-0CFD-4B47-11C3881B782F}"/>
              </a:ext>
            </a:extLst>
          </p:cNvPr>
          <p:cNvPicPr>
            <a:picLocks noChangeAspect="1"/>
          </p:cNvPicPr>
          <p:nvPr/>
        </p:nvPicPr>
        <p:blipFill>
          <a:blip r:embed="rId2"/>
          <a:stretch>
            <a:fillRect/>
          </a:stretch>
        </p:blipFill>
        <p:spPr>
          <a:xfrm>
            <a:off x="2667000" y="0"/>
            <a:ext cx="5105400" cy="1200150"/>
          </a:xfrm>
          <a:prstGeom prst="rect">
            <a:avLst/>
          </a:prstGeom>
        </p:spPr>
      </p:pic>
      <p:sp>
        <p:nvSpPr>
          <p:cNvPr id="3" name="TextBox 2">
            <a:extLst>
              <a:ext uri="{FF2B5EF4-FFF2-40B4-BE49-F238E27FC236}">
                <a16:creationId xmlns:a16="http://schemas.microsoft.com/office/drawing/2014/main" id="{20604A02-ADAC-DE3D-3660-394820E6E43A}"/>
              </a:ext>
            </a:extLst>
          </p:cNvPr>
          <p:cNvSpPr txBox="1"/>
          <p:nvPr/>
        </p:nvSpPr>
        <p:spPr>
          <a:xfrm>
            <a:off x="4343400" y="228600"/>
            <a:ext cx="5029200" cy="400110"/>
          </a:xfrm>
          <a:prstGeom prst="rect">
            <a:avLst/>
          </a:prstGeom>
          <a:noFill/>
        </p:spPr>
        <p:txBody>
          <a:bodyPr wrap="square">
            <a:spAutoFit/>
          </a:bodyPr>
          <a:lstStyle/>
          <a:p>
            <a:pPr>
              <a:buNone/>
            </a:pPr>
            <a:r>
              <a:rPr lang="en-IN" sz="2000" b="1" dirty="0">
                <a:solidFill>
                  <a:schemeClr val="bg1"/>
                </a:solidFill>
                <a:latin typeface="Times New Roman" panose="02020603050405020304" pitchFamily="18" charset="0"/>
                <a:cs typeface="Times New Roman" panose="02020603050405020304" pitchFamily="18" charset="0"/>
              </a:rPr>
              <a:t>Clustering</a:t>
            </a:r>
            <a:endParaRPr lang="en-IN" sz="2000" dirty="0">
              <a:solidFill>
                <a:schemeClr val="bg1"/>
              </a:solidFill>
              <a:effectLst/>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01BFE181-3EF6-5FFD-6E19-D1EE61859C49}"/>
              </a:ext>
            </a:extLst>
          </p:cNvPr>
          <p:cNvPicPr>
            <a:picLocks noChangeAspect="1"/>
          </p:cNvPicPr>
          <p:nvPr/>
        </p:nvPicPr>
        <p:blipFill>
          <a:blip r:embed="rId3"/>
          <a:stretch>
            <a:fillRect/>
          </a:stretch>
        </p:blipFill>
        <p:spPr>
          <a:xfrm>
            <a:off x="152400" y="228600"/>
            <a:ext cx="1162050" cy="428625"/>
          </a:xfrm>
          <a:prstGeom prst="rect">
            <a:avLst/>
          </a:prstGeom>
        </p:spPr>
      </p:pic>
      <p:sp>
        <p:nvSpPr>
          <p:cNvPr id="11" name="Rectangle 1">
            <a:extLst>
              <a:ext uri="{FF2B5EF4-FFF2-40B4-BE49-F238E27FC236}">
                <a16:creationId xmlns:a16="http://schemas.microsoft.com/office/drawing/2014/main" id="{1B1A04E4-5AB6-24E4-4BEC-0CBF0CB9D99E}"/>
              </a:ext>
            </a:extLst>
          </p:cNvPr>
          <p:cNvSpPr>
            <a:spLocks noChangeArrowheads="1"/>
          </p:cNvSpPr>
          <p:nvPr/>
        </p:nvSpPr>
        <p:spPr bwMode="auto">
          <a:xfrm>
            <a:off x="304800" y="1222944"/>
            <a:ext cx="9372600" cy="614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en-US" sz="2200" b="1" dirty="0">
                <a:latin typeface="Times New Roman" panose="02020603050405020304" pitchFamily="18" charset="0"/>
                <a:cs typeface="Times New Roman" panose="02020603050405020304" pitchFamily="18" charset="0"/>
              </a:rPr>
              <a:t>Clustering</a:t>
            </a:r>
          </a:p>
          <a:p>
            <a:r>
              <a:rPr lang="en-US" sz="2200" dirty="0">
                <a:latin typeface="Times New Roman" panose="02020603050405020304" pitchFamily="18" charset="0"/>
                <a:cs typeface="Times New Roman" panose="02020603050405020304" pitchFamily="18" charset="0"/>
              </a:rPr>
              <a:t>Clustering is an </a:t>
            </a:r>
            <a:r>
              <a:rPr lang="en-US" sz="2200" b="1" dirty="0">
                <a:latin typeface="Times New Roman" panose="02020603050405020304" pitchFamily="18" charset="0"/>
                <a:cs typeface="Times New Roman" panose="02020603050405020304" pitchFamily="18" charset="0"/>
              </a:rPr>
              <a:t>unsupervised learning technique</a:t>
            </a:r>
            <a:r>
              <a:rPr lang="en-US" sz="2200" dirty="0">
                <a:latin typeface="Times New Roman" panose="02020603050405020304" pitchFamily="18" charset="0"/>
                <a:cs typeface="Times New Roman" panose="02020603050405020304" pitchFamily="18" charset="0"/>
              </a:rPr>
              <a:t> used to group students based on similar academic characteristics without predefined labels.</a:t>
            </a:r>
          </a:p>
          <a:p>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Algorithm Used:</a:t>
            </a:r>
          </a:p>
          <a:p>
            <a:r>
              <a:rPr lang="en-US" sz="2200" b="1" dirty="0">
                <a:latin typeface="Times New Roman" panose="02020603050405020304" pitchFamily="18" charset="0"/>
                <a:cs typeface="Times New Roman" panose="02020603050405020304" pitchFamily="18" charset="0"/>
              </a:rPr>
              <a:t>Simple K-Means</a:t>
            </a:r>
            <a:r>
              <a:rPr lang="en-US" sz="2200" dirty="0">
                <a:latin typeface="Times New Roman" panose="02020603050405020304" pitchFamily="18" charset="0"/>
                <a:cs typeface="Times New Roman" panose="02020603050405020304" pitchFamily="18" charset="0"/>
              </a:rPr>
              <a:t> clustering was applied in WEKA.</a:t>
            </a:r>
          </a:p>
          <a:p>
            <a:r>
              <a:rPr lang="en-US" sz="2200" b="1" dirty="0">
                <a:latin typeface="Times New Roman" panose="02020603050405020304" pitchFamily="18" charset="0"/>
                <a:cs typeface="Times New Roman" panose="02020603050405020304" pitchFamily="18" charset="0"/>
              </a:rPr>
              <a:t>Mechanism</a:t>
            </a:r>
          </a:p>
          <a:p>
            <a:r>
              <a:rPr lang="en-US" sz="2200" dirty="0">
                <a:latin typeface="Times New Roman" panose="02020603050405020304" pitchFamily="18" charset="0"/>
                <a:cs typeface="Times New Roman" panose="02020603050405020304" pitchFamily="18" charset="0"/>
              </a:rPr>
              <a:t>K-Means uses </a:t>
            </a:r>
            <a:r>
              <a:rPr lang="en-US" sz="2200" b="1" dirty="0">
                <a:latin typeface="Times New Roman" panose="02020603050405020304" pitchFamily="18" charset="0"/>
                <a:cs typeface="Times New Roman" panose="02020603050405020304" pitchFamily="18" charset="0"/>
              </a:rPr>
              <a:t>Euclidean Distance</a:t>
            </a:r>
            <a:r>
              <a:rPr lang="en-US" sz="2200" dirty="0">
                <a:latin typeface="Times New Roman" panose="02020603050405020304" pitchFamily="18" charset="0"/>
                <a:cs typeface="Times New Roman" panose="02020603050405020304" pitchFamily="18" charset="0"/>
              </a:rPr>
              <a:t> to measure similarity between student records and group them around cluster centroids.</a:t>
            </a:r>
          </a:p>
          <a:p>
            <a:r>
              <a:rPr lang="en-US" sz="2200" b="1" dirty="0">
                <a:latin typeface="Times New Roman" panose="02020603050405020304" pitchFamily="18" charset="0"/>
                <a:cs typeface="Times New Roman" panose="02020603050405020304" pitchFamily="18" charset="0"/>
              </a:rPr>
              <a:t>Cluster Profiles</a:t>
            </a:r>
          </a:p>
          <a:p>
            <a:r>
              <a:rPr lang="en-US" sz="2200" dirty="0">
                <a:latin typeface="Times New Roman" panose="02020603050405020304" pitchFamily="18" charset="0"/>
                <a:cs typeface="Times New Roman" panose="02020603050405020304" pitchFamily="18" charset="0"/>
              </a:rPr>
              <a:t>Two clusters were identified:</a:t>
            </a:r>
          </a:p>
          <a:p>
            <a:r>
              <a:rPr lang="en-US" sz="2200" b="1" dirty="0">
                <a:latin typeface="Times New Roman" panose="02020603050405020304" pitchFamily="18" charset="0"/>
                <a:cs typeface="Times New Roman" panose="02020603050405020304" pitchFamily="18" charset="0"/>
              </a:rPr>
              <a:t>Cluster 0:</a:t>
            </a:r>
            <a:r>
              <a:rPr lang="en-US" sz="2200" dirty="0">
                <a:latin typeface="Times New Roman" panose="02020603050405020304" pitchFamily="18" charset="0"/>
                <a:cs typeface="Times New Roman" panose="02020603050405020304" pitchFamily="18" charset="0"/>
              </a:rPr>
              <a:t> Students with higher curriculum approval rates and stronger academic performance.</a:t>
            </a:r>
          </a:p>
          <a:p>
            <a:r>
              <a:rPr lang="en-US" sz="2200" b="1" dirty="0">
                <a:latin typeface="Times New Roman" panose="02020603050405020304" pitchFamily="18" charset="0"/>
                <a:cs typeface="Times New Roman" panose="02020603050405020304" pitchFamily="18" charset="0"/>
              </a:rPr>
              <a:t>Cluster 1:</a:t>
            </a:r>
            <a:r>
              <a:rPr lang="en-US" sz="2200" dirty="0">
                <a:latin typeface="Times New Roman" panose="02020603050405020304" pitchFamily="18" charset="0"/>
                <a:cs typeface="Times New Roman" panose="02020603050405020304" pitchFamily="18" charset="0"/>
              </a:rPr>
              <a:t> Students showing lower curriculum performance and characteristics related to higher dropout probability.</a:t>
            </a:r>
          </a:p>
          <a:p>
            <a:r>
              <a:rPr lang="en-US" sz="2200" b="1" dirty="0">
                <a:latin typeface="Times New Roman" panose="02020603050405020304" pitchFamily="18" charset="0"/>
                <a:cs typeface="Times New Roman" panose="02020603050405020304" pitchFamily="18" charset="0"/>
              </a:rPr>
              <a:t>Value in Education</a:t>
            </a:r>
          </a:p>
          <a:p>
            <a:r>
              <a:rPr lang="en-US" sz="2200" dirty="0">
                <a:latin typeface="Times New Roman" panose="02020603050405020304" pitchFamily="18" charset="0"/>
                <a:cs typeface="Times New Roman" panose="02020603050405020304" pitchFamily="18" charset="0"/>
              </a:rPr>
              <a:t>Clustering helps identify groups of students with similar academic behavior and can assist institutions in designing targeted academic support strategies.</a:t>
            </a:r>
          </a:p>
        </p:txBody>
      </p:sp>
    </p:spTree>
    <p:extLst>
      <p:ext uri="{BB962C8B-B14F-4D97-AF65-F5344CB8AC3E}">
        <p14:creationId xmlns:p14="http://schemas.microsoft.com/office/powerpoint/2010/main" val="2272052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341A9A0C-5E49-C4FC-C0E2-70A06369EFD0}"/>
              </a:ext>
            </a:extLst>
          </p:cNvPr>
          <p:cNvPicPr/>
          <p:nvPr/>
        </p:nvPicPr>
        <p:blipFill>
          <a:blip r:embed="rId2" cstate="print"/>
          <a:stretch>
            <a:fillRect/>
          </a:stretch>
        </p:blipFill>
        <p:spPr>
          <a:xfrm>
            <a:off x="290750" y="301400"/>
            <a:ext cx="1163002" cy="424338"/>
          </a:xfrm>
          <a:prstGeom prst="rect">
            <a:avLst/>
          </a:prstGeom>
        </p:spPr>
      </p:pic>
      <p:grpSp>
        <p:nvGrpSpPr>
          <p:cNvPr id="6" name="object 3">
            <a:extLst>
              <a:ext uri="{FF2B5EF4-FFF2-40B4-BE49-F238E27FC236}">
                <a16:creationId xmlns:a16="http://schemas.microsoft.com/office/drawing/2014/main" id="{28C709D2-1F3E-B8A5-31F4-CB71FA8CE2F7}"/>
              </a:ext>
            </a:extLst>
          </p:cNvPr>
          <p:cNvGrpSpPr/>
          <p:nvPr/>
        </p:nvGrpSpPr>
        <p:grpSpPr>
          <a:xfrm>
            <a:off x="2477248" y="249489"/>
            <a:ext cx="5103904" cy="1198311"/>
            <a:chOff x="2648188" y="47148"/>
            <a:chExt cx="5103904" cy="1198311"/>
          </a:xfrm>
        </p:grpSpPr>
        <p:pic>
          <p:nvPicPr>
            <p:cNvPr id="7" name="object 4">
              <a:extLst>
                <a:ext uri="{FF2B5EF4-FFF2-40B4-BE49-F238E27FC236}">
                  <a16:creationId xmlns:a16="http://schemas.microsoft.com/office/drawing/2014/main" id="{2748FADB-DFB8-BBFB-950D-CE7904780EFC}"/>
                </a:ext>
              </a:extLst>
            </p:cNvPr>
            <p:cNvPicPr/>
            <p:nvPr/>
          </p:nvPicPr>
          <p:blipFill>
            <a:blip r:embed="rId3" cstate="print"/>
            <a:stretch>
              <a:fillRect/>
            </a:stretch>
          </p:blipFill>
          <p:spPr>
            <a:xfrm>
              <a:off x="2648188" y="47148"/>
              <a:ext cx="5103904" cy="1198311"/>
            </a:xfrm>
            <a:prstGeom prst="rect">
              <a:avLst/>
            </a:prstGeom>
          </p:spPr>
        </p:pic>
        <p:pic>
          <p:nvPicPr>
            <p:cNvPr id="8" name="object 5">
              <a:extLst>
                <a:ext uri="{FF2B5EF4-FFF2-40B4-BE49-F238E27FC236}">
                  <a16:creationId xmlns:a16="http://schemas.microsoft.com/office/drawing/2014/main" id="{F6E6C8A4-7D53-12A2-2453-F97F02BD3002}"/>
                </a:ext>
              </a:extLst>
            </p:cNvPr>
            <p:cNvPicPr/>
            <p:nvPr/>
          </p:nvPicPr>
          <p:blipFill>
            <a:blip r:embed="rId4" cstate="print"/>
            <a:stretch>
              <a:fillRect/>
            </a:stretch>
          </p:blipFill>
          <p:spPr>
            <a:xfrm>
              <a:off x="2703195" y="86439"/>
              <a:ext cx="4997767" cy="1092279"/>
            </a:xfrm>
            <a:prstGeom prst="rect">
              <a:avLst/>
            </a:prstGeom>
          </p:spPr>
        </p:pic>
        <p:pic>
          <p:nvPicPr>
            <p:cNvPr id="9" name="object 6">
              <a:extLst>
                <a:ext uri="{FF2B5EF4-FFF2-40B4-BE49-F238E27FC236}">
                  <a16:creationId xmlns:a16="http://schemas.microsoft.com/office/drawing/2014/main" id="{28970CC1-B70C-3719-DE38-7A6B41FA456B}"/>
                </a:ext>
              </a:extLst>
            </p:cNvPr>
            <p:cNvPicPr/>
            <p:nvPr/>
          </p:nvPicPr>
          <p:blipFill>
            <a:blip r:embed="rId5" cstate="print"/>
            <a:stretch>
              <a:fillRect/>
            </a:stretch>
          </p:blipFill>
          <p:spPr>
            <a:xfrm>
              <a:off x="2828925" y="243549"/>
              <a:ext cx="4585268" cy="522565"/>
            </a:xfrm>
            <a:prstGeom prst="rect">
              <a:avLst/>
            </a:prstGeom>
          </p:spPr>
        </p:pic>
        <p:sp>
          <p:nvSpPr>
            <p:cNvPr id="10" name="object 7">
              <a:extLst>
                <a:ext uri="{FF2B5EF4-FFF2-40B4-BE49-F238E27FC236}">
                  <a16:creationId xmlns:a16="http://schemas.microsoft.com/office/drawing/2014/main" id="{B781DB21-3EB5-43DD-BFA9-FC03DD341DD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000" b="1" dirty="0">
                  <a:solidFill>
                    <a:schemeClr val="bg1"/>
                  </a:solidFill>
                  <a:latin typeface="Times New Roman" panose="02020603050405020304" pitchFamily="18" charset="0"/>
                  <a:cs typeface="Times New Roman" panose="02020603050405020304" pitchFamily="18" charset="0"/>
                </a:rPr>
                <a:t>K-MEANS OUTPUT</a:t>
              </a:r>
              <a:endParaRPr sz="2000" b="1" dirty="0">
                <a:solidFill>
                  <a:schemeClr val="bg1"/>
                </a:solidFill>
                <a:latin typeface="Times New Roman" panose="02020603050405020304" pitchFamily="18" charset="0"/>
                <a:cs typeface="Times New Roman" panose="02020603050405020304" pitchFamily="18" charset="0"/>
              </a:endParaRPr>
            </a:p>
          </p:txBody>
        </p:sp>
      </p:grpSp>
      <p:pic>
        <p:nvPicPr>
          <p:cNvPr id="2" name="Picture 1">
            <a:extLst>
              <a:ext uri="{FF2B5EF4-FFF2-40B4-BE49-F238E27FC236}">
                <a16:creationId xmlns:a16="http://schemas.microsoft.com/office/drawing/2014/main" id="{69E1AA91-7901-433D-32D1-B7047945C881}"/>
              </a:ext>
            </a:extLst>
          </p:cNvPr>
          <p:cNvPicPr>
            <a:picLocks noChangeAspect="1"/>
          </p:cNvPicPr>
          <p:nvPr/>
        </p:nvPicPr>
        <p:blipFill>
          <a:blip r:embed="rId6"/>
          <a:stretch>
            <a:fillRect/>
          </a:stretch>
        </p:blipFill>
        <p:spPr>
          <a:xfrm>
            <a:off x="0" y="1381059"/>
            <a:ext cx="10058400" cy="5498330"/>
          </a:xfrm>
          <a:prstGeom prst="rect">
            <a:avLst/>
          </a:prstGeom>
        </p:spPr>
      </p:pic>
    </p:spTree>
    <p:extLst>
      <p:ext uri="{BB962C8B-B14F-4D97-AF65-F5344CB8AC3E}">
        <p14:creationId xmlns:p14="http://schemas.microsoft.com/office/powerpoint/2010/main" val="19757881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
        <p:nvSpPr>
          <p:cNvPr id="6" name="TextBox 5">
            <a:extLst>
              <a:ext uri="{FF2B5EF4-FFF2-40B4-BE49-F238E27FC236}">
                <a16:creationId xmlns:a16="http://schemas.microsoft.com/office/drawing/2014/main" id="{35D692C2-8933-43F0-7622-823AC06699D0}"/>
              </a:ext>
            </a:extLst>
          </p:cNvPr>
          <p:cNvSpPr txBox="1"/>
          <p:nvPr/>
        </p:nvSpPr>
        <p:spPr>
          <a:xfrm>
            <a:off x="2514600" y="3402595"/>
            <a:ext cx="5029200" cy="369332"/>
          </a:xfrm>
          <a:prstGeom prst="rect">
            <a:avLst/>
          </a:prstGeom>
          <a:noFill/>
        </p:spPr>
        <p:txBody>
          <a:bodyPr wrap="square">
            <a:spAutoFit/>
          </a:bodyPr>
          <a:lstStyle/>
          <a:p>
            <a:r>
              <a:rPr lang="en-IN" sz="1800" b="1" dirty="0">
                <a:solidFill>
                  <a:srgbClr val="FFFFFF"/>
                </a:solidFill>
                <a:latin typeface="Times New Roman" panose="02020603050405020304" pitchFamily="18" charset="0"/>
                <a:cs typeface="Times New Roman" panose="02020603050405020304" pitchFamily="18" charset="0"/>
              </a:rPr>
              <a:t>Classification</a:t>
            </a:r>
            <a:endParaRPr lang="en-IN" dirty="0"/>
          </a:p>
        </p:txBody>
      </p:sp>
      <p:grpSp>
        <p:nvGrpSpPr>
          <p:cNvPr id="7" name="object 3">
            <a:extLst>
              <a:ext uri="{FF2B5EF4-FFF2-40B4-BE49-F238E27FC236}">
                <a16:creationId xmlns:a16="http://schemas.microsoft.com/office/drawing/2014/main" id="{3FAF33A2-6B4E-A21C-C0F5-D299BD7FF071}"/>
              </a:ext>
            </a:extLst>
          </p:cNvPr>
          <p:cNvGrpSpPr/>
          <p:nvPr/>
        </p:nvGrpSpPr>
        <p:grpSpPr>
          <a:xfrm>
            <a:off x="2634964" y="79842"/>
            <a:ext cx="5103904" cy="1198311"/>
            <a:chOff x="2648188" y="47148"/>
            <a:chExt cx="5103904" cy="1198311"/>
          </a:xfrm>
        </p:grpSpPr>
        <p:pic>
          <p:nvPicPr>
            <p:cNvPr id="8" name="object 4">
              <a:extLst>
                <a:ext uri="{FF2B5EF4-FFF2-40B4-BE49-F238E27FC236}">
                  <a16:creationId xmlns:a16="http://schemas.microsoft.com/office/drawing/2014/main" id="{F16D6AD5-B239-9AEA-8A3C-8A1A40B33890}"/>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0A882D9C-EF6F-6C7A-EF12-8801DDA7875A}"/>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253B7C8-B8DF-D424-2CA6-E4A5C418F2F6}"/>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90C00822-3202-C29C-04FF-D146E9214B0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000" b="1" dirty="0">
                  <a:solidFill>
                    <a:schemeClr val="bg1"/>
                  </a:solidFill>
                  <a:latin typeface="Times New Roman" panose="02020603050405020304" pitchFamily="18" charset="0"/>
                  <a:cs typeface="Times New Roman" panose="02020603050405020304" pitchFamily="18" charset="0"/>
                </a:rPr>
                <a:t>Clustering</a:t>
              </a:r>
            </a:p>
            <a:p>
              <a:pPr algn="ctr"/>
              <a:endParaRPr sz="2000" b="1" dirty="0">
                <a:solidFill>
                  <a:schemeClr val="bg1"/>
                </a:solidFill>
                <a:latin typeface="Times New Roman" panose="02020603050405020304" pitchFamily="18" charset="0"/>
                <a:cs typeface="Times New Roman" panose="02020603050405020304" pitchFamily="18" charset="0"/>
              </a:endParaRPr>
            </a:p>
          </p:txBody>
        </p:sp>
      </p:grpSp>
      <p:sp>
        <p:nvSpPr>
          <p:cNvPr id="15" name="TextBox 14">
            <a:extLst>
              <a:ext uri="{FF2B5EF4-FFF2-40B4-BE49-F238E27FC236}">
                <a16:creationId xmlns:a16="http://schemas.microsoft.com/office/drawing/2014/main" id="{E5A62501-E0BE-C67E-6BCA-2D85468D8E87}"/>
              </a:ext>
            </a:extLst>
          </p:cNvPr>
          <p:cNvSpPr txBox="1"/>
          <p:nvPr/>
        </p:nvSpPr>
        <p:spPr>
          <a:xfrm>
            <a:off x="290750" y="955919"/>
            <a:ext cx="9462850" cy="5940088"/>
          </a:xfrm>
          <a:prstGeom prst="rect">
            <a:avLst/>
          </a:prstGeom>
          <a:noFill/>
        </p:spPr>
        <p:txBody>
          <a:bodyPr wrap="square">
            <a:spAutoFit/>
          </a:bodyPr>
          <a:lstStyle/>
          <a:p>
            <a:pPr lvl="2" algn="just"/>
            <a:r>
              <a:rPr lang="en-US" sz="2000" b="1" dirty="0">
                <a:latin typeface="Times New Roman" panose="02020603050405020304" pitchFamily="18" charset="0"/>
                <a:cs typeface="Times New Roman" panose="02020603050405020304" pitchFamily="18" charset="0"/>
              </a:rPr>
              <a:t>Hierarchical Clustering</a:t>
            </a:r>
            <a:endParaRPr lang="en-IN"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Hierarchical clustering creates a tree-like structure of clusters.</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Working:</a:t>
            </a:r>
            <a:endParaRPr lang="en-IN"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3" algn="just"/>
            <a:r>
              <a:rPr lang="en-US" sz="2000" dirty="0">
                <a:latin typeface="Times New Roman" panose="02020603050405020304" pitchFamily="18" charset="0"/>
                <a:cs typeface="Times New Roman" panose="02020603050405020304" pitchFamily="18" charset="0"/>
              </a:rPr>
              <a:t>Starts by treating each data point as a separate cluster</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3" algn="just"/>
            <a:r>
              <a:rPr lang="en-US" sz="2000" dirty="0">
                <a:latin typeface="Times New Roman" panose="02020603050405020304" pitchFamily="18" charset="0"/>
                <a:cs typeface="Times New Roman" panose="02020603050405020304" pitchFamily="18" charset="0"/>
              </a:rPr>
              <a:t>Gradually merges clusters based on similarity</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3" algn="just"/>
            <a:r>
              <a:rPr lang="en-US" sz="2000" dirty="0">
                <a:latin typeface="Times New Roman" panose="02020603050405020304" pitchFamily="18" charset="0"/>
                <a:cs typeface="Times New Roman" panose="02020603050405020304" pitchFamily="18" charset="0"/>
              </a:rPr>
              <a:t>Forms a dendrogram (tree structure)</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Advantages:</a:t>
            </a:r>
            <a:endParaRPr lang="en-IN"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3" algn="just"/>
            <a:r>
              <a:rPr lang="en-US" sz="2000" dirty="0">
                <a:latin typeface="Times New Roman" panose="02020603050405020304" pitchFamily="18" charset="0"/>
                <a:cs typeface="Times New Roman" panose="02020603050405020304" pitchFamily="18" charset="0"/>
              </a:rPr>
              <a:t>Does not require predefined number of clusters</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lvl="3" algn="just"/>
            <a:r>
              <a:rPr lang="en-US" sz="2000" dirty="0">
                <a:latin typeface="Times New Roman" panose="02020603050405020304" pitchFamily="18" charset="0"/>
                <a:cs typeface="Times New Roman" panose="02020603050405020304" pitchFamily="18" charset="0"/>
              </a:rPr>
              <a:t>Easy to visualize relationships</a:t>
            </a:r>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Application in Project:</a:t>
            </a:r>
            <a:endParaRPr lang="en-IN"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Used to understand relationships between different student groups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5972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E6E5BF6E-E3D9-0F88-D191-BCC46D8C8013}"/>
              </a:ext>
            </a:extLst>
          </p:cNvPr>
          <p:cNvPicPr/>
          <p:nvPr/>
        </p:nvPicPr>
        <p:blipFill>
          <a:blip r:embed="rId2" cstate="print"/>
          <a:stretch>
            <a:fillRect/>
          </a:stretch>
        </p:blipFill>
        <p:spPr>
          <a:xfrm>
            <a:off x="290750" y="204311"/>
            <a:ext cx="1163002" cy="424338"/>
          </a:xfrm>
          <a:prstGeom prst="rect">
            <a:avLst/>
          </a:prstGeom>
        </p:spPr>
      </p:pic>
      <p:grpSp>
        <p:nvGrpSpPr>
          <p:cNvPr id="5" name="object 3">
            <a:extLst>
              <a:ext uri="{FF2B5EF4-FFF2-40B4-BE49-F238E27FC236}">
                <a16:creationId xmlns:a16="http://schemas.microsoft.com/office/drawing/2014/main" id="{3986A2CF-3911-8A87-C9B2-C61838378E4D}"/>
              </a:ext>
            </a:extLst>
          </p:cNvPr>
          <p:cNvGrpSpPr/>
          <p:nvPr/>
        </p:nvGrpSpPr>
        <p:grpSpPr>
          <a:xfrm>
            <a:off x="2502845" y="29493"/>
            <a:ext cx="5103904" cy="1198311"/>
            <a:chOff x="2648188" y="47148"/>
            <a:chExt cx="5103904" cy="1198311"/>
          </a:xfrm>
        </p:grpSpPr>
        <p:pic>
          <p:nvPicPr>
            <p:cNvPr id="6" name="object 4">
              <a:extLst>
                <a:ext uri="{FF2B5EF4-FFF2-40B4-BE49-F238E27FC236}">
                  <a16:creationId xmlns:a16="http://schemas.microsoft.com/office/drawing/2014/main" id="{3BAB062B-DE53-6E66-B24E-77AE4E47BCAE}"/>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23F9167-4C61-E66C-8884-BC99FE09702B}"/>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7DEB904-BCB9-F866-BB0B-25969DCF7D79}"/>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C33E26D6-7954-16E2-0B3F-0BD40ACE418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4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Hierarchical Clustering Output</a:t>
              </a:r>
              <a:endParaRPr sz="2200" b="1" dirty="0">
                <a:solidFill>
                  <a:schemeClr val="bg1"/>
                </a:solidFill>
                <a:latin typeface="Times New Roman" panose="02020603050405020304" pitchFamily="18" charset="0"/>
                <a:cs typeface="Times New Roman" panose="02020603050405020304" pitchFamily="18" charset="0"/>
              </a:endParaRPr>
            </a:p>
          </p:txBody>
        </p:sp>
      </p:grpSp>
      <p:pic>
        <p:nvPicPr>
          <p:cNvPr id="3" name="Picture 2">
            <a:extLst>
              <a:ext uri="{FF2B5EF4-FFF2-40B4-BE49-F238E27FC236}">
                <a16:creationId xmlns:a16="http://schemas.microsoft.com/office/drawing/2014/main" id="{3ED4F850-91AC-5A07-E3CC-58AD531FF39C}"/>
              </a:ext>
            </a:extLst>
          </p:cNvPr>
          <p:cNvPicPr>
            <a:picLocks noChangeAspect="1"/>
          </p:cNvPicPr>
          <p:nvPr/>
        </p:nvPicPr>
        <p:blipFill>
          <a:blip r:embed="rId6"/>
          <a:stretch>
            <a:fillRect/>
          </a:stretch>
        </p:blipFill>
        <p:spPr>
          <a:xfrm>
            <a:off x="-31174" y="1384914"/>
            <a:ext cx="10089573" cy="5541122"/>
          </a:xfrm>
          <a:prstGeom prst="rect">
            <a:avLst/>
          </a:prstGeom>
        </p:spPr>
      </p:pic>
    </p:spTree>
    <p:extLst>
      <p:ext uri="{BB962C8B-B14F-4D97-AF65-F5344CB8AC3E}">
        <p14:creationId xmlns:p14="http://schemas.microsoft.com/office/powerpoint/2010/main" val="2244524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D5B990-E9D2-52C2-9826-97B9164703B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Palatino Linotype" panose="02040502050505030304" pitchFamily="18" charset="0"/>
              </a:rPr>
              <a:t>ANALYSIS</a:t>
            </a:r>
          </a:p>
        </p:txBody>
      </p:sp>
      <p:pic>
        <p:nvPicPr>
          <p:cNvPr id="3" name="object 3">
            <a:extLst>
              <a:ext uri="{FF2B5EF4-FFF2-40B4-BE49-F238E27FC236}">
                <a16:creationId xmlns:a16="http://schemas.microsoft.com/office/drawing/2014/main" id="{EC3AFFBB-D120-4DB4-4678-15A6CFDA3C00}"/>
              </a:ext>
            </a:extLst>
          </p:cNvPr>
          <p:cNvPicPr/>
          <p:nvPr/>
        </p:nvPicPr>
        <p:blipFill>
          <a:blip r:embed="rId2"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6761AACD-2896-7302-AFFB-EF632C81E40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pic>
        <p:nvPicPr>
          <p:cNvPr id="5" name="object 3">
            <a:extLst>
              <a:ext uri="{FF2B5EF4-FFF2-40B4-BE49-F238E27FC236}">
                <a16:creationId xmlns:a16="http://schemas.microsoft.com/office/drawing/2014/main" id="{D39BE507-42D0-25A8-9F40-E8BE8EAB9131}"/>
              </a:ext>
            </a:extLst>
          </p:cNvPr>
          <p:cNvPicPr/>
          <p:nvPr/>
        </p:nvPicPr>
        <p:blipFill>
          <a:blip r:embed="rId2" cstate="print"/>
          <a:stretch>
            <a:fillRect/>
          </a:stretch>
        </p:blipFill>
        <p:spPr>
          <a:xfrm>
            <a:off x="290750" y="204311"/>
            <a:ext cx="1163002" cy="424338"/>
          </a:xfrm>
          <a:prstGeom prst="rect">
            <a:avLst/>
          </a:prstGeom>
        </p:spPr>
      </p:pic>
      <p:grpSp>
        <p:nvGrpSpPr>
          <p:cNvPr id="6" name="object 3">
            <a:extLst>
              <a:ext uri="{FF2B5EF4-FFF2-40B4-BE49-F238E27FC236}">
                <a16:creationId xmlns:a16="http://schemas.microsoft.com/office/drawing/2014/main" id="{1BA5A16B-345A-55C2-9F8C-786BEC73C5A3}"/>
              </a:ext>
            </a:extLst>
          </p:cNvPr>
          <p:cNvGrpSpPr/>
          <p:nvPr/>
        </p:nvGrpSpPr>
        <p:grpSpPr>
          <a:xfrm>
            <a:off x="2667000" y="29493"/>
            <a:ext cx="5103904" cy="1198311"/>
            <a:chOff x="2648188" y="47148"/>
            <a:chExt cx="5103904" cy="1198311"/>
          </a:xfrm>
        </p:grpSpPr>
        <p:pic>
          <p:nvPicPr>
            <p:cNvPr id="7" name="object 4">
              <a:extLst>
                <a:ext uri="{FF2B5EF4-FFF2-40B4-BE49-F238E27FC236}">
                  <a16:creationId xmlns:a16="http://schemas.microsoft.com/office/drawing/2014/main" id="{1CEA091B-60AB-77F7-18FC-BC3669B17074}"/>
                </a:ext>
              </a:extLst>
            </p:cNvPr>
            <p:cNvPicPr/>
            <p:nvPr/>
          </p:nvPicPr>
          <p:blipFill>
            <a:blip r:embed="rId3" cstate="print"/>
            <a:stretch>
              <a:fillRect/>
            </a:stretch>
          </p:blipFill>
          <p:spPr>
            <a:xfrm>
              <a:off x="2648188" y="47148"/>
              <a:ext cx="5103904" cy="1198311"/>
            </a:xfrm>
            <a:prstGeom prst="rect">
              <a:avLst/>
            </a:prstGeom>
          </p:spPr>
        </p:pic>
        <p:pic>
          <p:nvPicPr>
            <p:cNvPr id="8" name="object 5">
              <a:extLst>
                <a:ext uri="{FF2B5EF4-FFF2-40B4-BE49-F238E27FC236}">
                  <a16:creationId xmlns:a16="http://schemas.microsoft.com/office/drawing/2014/main" id="{B5CA39B2-DAD4-7A12-BC19-708D107FD389}"/>
                </a:ext>
              </a:extLst>
            </p:cNvPr>
            <p:cNvPicPr/>
            <p:nvPr/>
          </p:nvPicPr>
          <p:blipFill>
            <a:blip r:embed="rId4" cstate="print"/>
            <a:stretch>
              <a:fillRect/>
            </a:stretch>
          </p:blipFill>
          <p:spPr>
            <a:xfrm>
              <a:off x="2703195" y="86439"/>
              <a:ext cx="4997767" cy="1092279"/>
            </a:xfrm>
            <a:prstGeom prst="rect">
              <a:avLst/>
            </a:prstGeom>
          </p:spPr>
        </p:pic>
        <p:pic>
          <p:nvPicPr>
            <p:cNvPr id="9" name="object 6">
              <a:extLst>
                <a:ext uri="{FF2B5EF4-FFF2-40B4-BE49-F238E27FC236}">
                  <a16:creationId xmlns:a16="http://schemas.microsoft.com/office/drawing/2014/main" id="{2ABC7B23-E1A3-DDCA-9441-7BEE48E288A2}"/>
                </a:ext>
              </a:extLst>
            </p:cNvPr>
            <p:cNvPicPr/>
            <p:nvPr/>
          </p:nvPicPr>
          <p:blipFill>
            <a:blip r:embed="rId5" cstate="print"/>
            <a:stretch>
              <a:fillRect/>
            </a:stretch>
          </p:blipFill>
          <p:spPr>
            <a:xfrm>
              <a:off x="2828925" y="243549"/>
              <a:ext cx="4585268" cy="522565"/>
            </a:xfrm>
            <a:prstGeom prst="rect">
              <a:avLst/>
            </a:prstGeom>
          </p:spPr>
        </p:pic>
        <p:sp>
          <p:nvSpPr>
            <p:cNvPr id="10" name="object 7">
              <a:extLst>
                <a:ext uri="{FF2B5EF4-FFF2-40B4-BE49-F238E27FC236}">
                  <a16:creationId xmlns:a16="http://schemas.microsoft.com/office/drawing/2014/main" id="{E7348A2D-C871-8A99-642E-3C01715D314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1" name="TextBox 10">
            <a:extLst>
              <a:ext uri="{FF2B5EF4-FFF2-40B4-BE49-F238E27FC236}">
                <a16:creationId xmlns:a16="http://schemas.microsoft.com/office/drawing/2014/main" id="{B5FAB6DB-C98D-448C-37D2-CC015A9ACA81}"/>
              </a:ext>
            </a:extLst>
          </p:cNvPr>
          <p:cNvSpPr txBox="1"/>
          <p:nvPr/>
        </p:nvSpPr>
        <p:spPr>
          <a:xfrm>
            <a:off x="3862463" y="265237"/>
            <a:ext cx="2462137"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Association(</a:t>
            </a:r>
            <a:r>
              <a:rPr lang="en-IN" sz="2000" b="1" dirty="0" err="1">
                <a:solidFill>
                  <a:schemeClr val="bg1"/>
                </a:solidFill>
                <a:latin typeface="Times New Roman" panose="02020603050405020304" pitchFamily="18" charset="0"/>
                <a:cs typeface="Times New Roman" panose="02020603050405020304" pitchFamily="18" charset="0"/>
              </a:rPr>
              <a:t>Apriori</a:t>
            </a:r>
            <a:r>
              <a:rPr lang="en-IN" sz="2000" b="1" dirty="0">
                <a:solidFill>
                  <a:schemeClr val="bg1"/>
                </a:solidFill>
                <a:latin typeface="Times New Roman" panose="02020603050405020304" pitchFamily="18" charset="0"/>
                <a:cs typeface="Times New Roman" panose="02020603050405020304" pitchFamily="18" charset="0"/>
              </a:rPr>
              <a:t>)</a:t>
            </a:r>
          </a:p>
        </p:txBody>
      </p:sp>
      <p:sp>
        <p:nvSpPr>
          <p:cNvPr id="19" name="Rectangle 2">
            <a:extLst>
              <a:ext uri="{FF2B5EF4-FFF2-40B4-BE49-F238E27FC236}">
                <a16:creationId xmlns:a16="http://schemas.microsoft.com/office/drawing/2014/main" id="{4389B531-65E3-FAFA-3935-38346DFDA649}"/>
              </a:ext>
            </a:extLst>
          </p:cNvPr>
          <p:cNvSpPr>
            <a:spLocks noChangeArrowheads="1"/>
          </p:cNvSpPr>
          <p:nvPr/>
        </p:nvSpPr>
        <p:spPr bwMode="auto">
          <a:xfrm>
            <a:off x="533400" y="1505733"/>
            <a:ext cx="90678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dirty="0">
                <a:latin typeface="Times New Roman" panose="02020603050405020304" pitchFamily="18" charset="0"/>
                <a:cs typeface="Times New Roman" panose="02020603050405020304" pitchFamily="18" charset="0"/>
              </a:rPr>
              <a:t>The </a:t>
            </a:r>
            <a:r>
              <a:rPr lang="en-US" sz="2200" b="1" dirty="0">
                <a:latin typeface="Times New Roman" panose="02020603050405020304" pitchFamily="18" charset="0"/>
                <a:cs typeface="Times New Roman" panose="02020603050405020304" pitchFamily="18" charset="0"/>
              </a:rPr>
              <a:t>Apriori algorithm</a:t>
            </a:r>
            <a:r>
              <a:rPr lang="en-US" sz="2200" dirty="0">
                <a:latin typeface="Times New Roman" panose="02020603050405020304" pitchFamily="18" charset="0"/>
                <a:cs typeface="Times New Roman" panose="02020603050405020304" pitchFamily="18" charset="0"/>
              </a:rPr>
              <a:t> was applied on the discretized dataset to discover relationships between student attributes.</a:t>
            </a:r>
          </a:p>
          <a:p>
            <a:r>
              <a:rPr lang="en-US" sz="2200" dirty="0">
                <a:latin typeface="Times New Roman" panose="02020603050405020304" pitchFamily="18" charset="0"/>
                <a:cs typeface="Times New Roman" panose="02020603050405020304" pitchFamily="18" charset="0"/>
              </a:rPr>
              <a:t>Minimum support and confidence thresholds were used to generate frequent </a:t>
            </a:r>
            <a:r>
              <a:rPr lang="en-US" sz="2200" dirty="0" err="1">
                <a:latin typeface="Times New Roman" panose="02020603050405020304" pitchFamily="18" charset="0"/>
                <a:cs typeface="Times New Roman" panose="02020603050405020304" pitchFamily="18" charset="0"/>
              </a:rPr>
              <a:t>itemsets</a:t>
            </a:r>
            <a:r>
              <a:rPr lang="en-US" sz="2200" dirty="0">
                <a:latin typeface="Times New Roman" panose="02020603050405020304" pitchFamily="18" charset="0"/>
                <a:cs typeface="Times New Roman" panose="02020603050405020304" pitchFamily="18" charset="0"/>
              </a:rPr>
              <a:t> and association rules. The rules revealed relationships between attributes such as </a:t>
            </a:r>
            <a:r>
              <a:rPr lang="en-US" sz="2200" b="1" dirty="0">
                <a:latin typeface="Times New Roman" panose="02020603050405020304" pitchFamily="18" charset="0"/>
                <a:cs typeface="Times New Roman" panose="02020603050405020304" pitchFamily="18" charset="0"/>
              </a:rPr>
              <a:t>nationality, international status, curriculum evaluation participation, and educational special needs</a:t>
            </a:r>
            <a:r>
              <a:rPr lang="en-US" sz="22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Concept:</a:t>
            </a:r>
            <a:r>
              <a:rPr lang="en-US" sz="2200" dirty="0">
                <a:latin typeface="Times New Roman" panose="02020603050405020304" pitchFamily="18" charset="0"/>
                <a:cs typeface="Times New Roman" panose="02020603050405020304" pitchFamily="18" charset="0"/>
              </a:rPr>
              <a:t> Apriori is a classic algorithm used to find frequent patterns and association rules in datasets.</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Mechanism:</a:t>
            </a:r>
            <a:r>
              <a:rPr lang="en-US" sz="2200" dirty="0">
                <a:latin typeface="Times New Roman" panose="02020603050405020304" pitchFamily="18" charset="0"/>
                <a:cs typeface="Times New Roman" panose="02020603050405020304" pitchFamily="18" charset="0"/>
              </a:rPr>
              <a:t> It uses a candidate generation approach and scans the dataset multiple times to identify frequent </a:t>
            </a:r>
            <a:r>
              <a:rPr lang="en-US" sz="2200" dirty="0" err="1">
                <a:latin typeface="Times New Roman" panose="02020603050405020304" pitchFamily="18" charset="0"/>
                <a:cs typeface="Times New Roman" panose="02020603050405020304" pitchFamily="18" charset="0"/>
              </a:rPr>
              <a:t>itemsets</a:t>
            </a:r>
            <a:r>
              <a:rPr lang="en-US" sz="2200" dirty="0">
                <a:latin typeface="Times New Roman" panose="02020603050405020304" pitchFamily="18" charset="0"/>
                <a:cs typeface="Times New Roman" panose="02020603050405020304" pitchFamily="18" charset="0"/>
              </a:rPr>
              <a:t>.</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Limitation:</a:t>
            </a:r>
            <a:r>
              <a:rPr lang="en-US" sz="2200" dirty="0">
                <a:latin typeface="Times New Roman" panose="02020603050405020304" pitchFamily="18" charset="0"/>
                <a:cs typeface="Times New Roman" panose="02020603050405020304" pitchFamily="18" charset="0"/>
              </a:rPr>
              <a:t> Apriori can be computationally slower for large datasets because it generates multiple candidate sets before pruning.</a:t>
            </a:r>
          </a:p>
        </p:txBody>
      </p:sp>
    </p:spTree>
    <p:extLst>
      <p:ext uri="{BB962C8B-B14F-4D97-AF65-F5344CB8AC3E}">
        <p14:creationId xmlns:p14="http://schemas.microsoft.com/office/powerpoint/2010/main" val="709256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CF409954-F34C-7C08-6DE2-774197559EA9}"/>
              </a:ext>
            </a:extLst>
          </p:cNvPr>
          <p:cNvPicPr/>
          <p:nvPr/>
        </p:nvPicPr>
        <p:blipFill>
          <a:blip r:embed="rId2" cstate="print"/>
          <a:stretch>
            <a:fillRect/>
          </a:stretch>
        </p:blipFill>
        <p:spPr>
          <a:xfrm>
            <a:off x="290750" y="301400"/>
            <a:ext cx="1163002" cy="424338"/>
          </a:xfrm>
          <a:prstGeom prst="rect">
            <a:avLst/>
          </a:prstGeom>
        </p:spPr>
      </p:pic>
      <p:grpSp>
        <p:nvGrpSpPr>
          <p:cNvPr id="5" name="object 3">
            <a:extLst>
              <a:ext uri="{FF2B5EF4-FFF2-40B4-BE49-F238E27FC236}">
                <a16:creationId xmlns:a16="http://schemas.microsoft.com/office/drawing/2014/main" id="{26C8FA3C-2BC2-58B3-53E8-D01CD6402F75}"/>
              </a:ext>
            </a:extLst>
          </p:cNvPr>
          <p:cNvGrpSpPr/>
          <p:nvPr/>
        </p:nvGrpSpPr>
        <p:grpSpPr>
          <a:xfrm>
            <a:off x="2477248" y="249489"/>
            <a:ext cx="5103904" cy="1198311"/>
            <a:chOff x="2648188" y="47148"/>
            <a:chExt cx="5103904" cy="1198311"/>
          </a:xfrm>
        </p:grpSpPr>
        <p:pic>
          <p:nvPicPr>
            <p:cNvPr id="6" name="object 4">
              <a:extLst>
                <a:ext uri="{FF2B5EF4-FFF2-40B4-BE49-F238E27FC236}">
                  <a16:creationId xmlns:a16="http://schemas.microsoft.com/office/drawing/2014/main" id="{FA506A30-1C4E-66C2-C38F-2B9DEDDA752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CED4202-6827-6472-6F5C-8DD4C3D5A433}"/>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9EC6AAFE-AA5F-DA22-D45A-A1ACFF1706A2}"/>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A150465-1EBD-69EF-61D8-2AC9295B9F11}"/>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pPr algn="ctr"/>
              <a:r>
                <a:rPr lang="en-IN" sz="2000" b="1" dirty="0">
                  <a:solidFill>
                    <a:schemeClr val="bg1"/>
                  </a:solidFill>
                  <a:latin typeface="Times New Roman" panose="02020603050405020304" pitchFamily="18" charset="0"/>
                  <a:cs typeface="Times New Roman" panose="02020603050405020304" pitchFamily="18" charset="0"/>
                </a:rPr>
                <a:t>APRIORI OUTPUT</a:t>
              </a:r>
              <a:endParaRPr sz="2000" b="1" dirty="0">
                <a:solidFill>
                  <a:schemeClr val="bg1"/>
                </a:solidFill>
                <a:latin typeface="Times New Roman" panose="02020603050405020304" pitchFamily="18" charset="0"/>
                <a:cs typeface="Times New Roman" panose="02020603050405020304" pitchFamily="18" charset="0"/>
              </a:endParaRPr>
            </a:p>
          </p:txBody>
        </p:sp>
      </p:grpSp>
      <p:pic>
        <p:nvPicPr>
          <p:cNvPr id="2" name="Picture 1">
            <a:extLst>
              <a:ext uri="{FF2B5EF4-FFF2-40B4-BE49-F238E27FC236}">
                <a16:creationId xmlns:a16="http://schemas.microsoft.com/office/drawing/2014/main" id="{1EF20525-8C92-5B96-1BD0-09B1BC971D23}"/>
              </a:ext>
            </a:extLst>
          </p:cNvPr>
          <p:cNvPicPr>
            <a:picLocks noChangeAspect="1"/>
          </p:cNvPicPr>
          <p:nvPr/>
        </p:nvPicPr>
        <p:blipFill>
          <a:blip r:embed="rId6"/>
          <a:stretch>
            <a:fillRect/>
          </a:stretch>
        </p:blipFill>
        <p:spPr>
          <a:xfrm>
            <a:off x="-14042" y="1403031"/>
            <a:ext cx="10072442" cy="6230403"/>
          </a:xfrm>
          <a:prstGeom prst="rect">
            <a:avLst/>
          </a:prstGeom>
        </p:spPr>
      </p:pic>
    </p:spTree>
    <p:extLst>
      <p:ext uri="{BB962C8B-B14F-4D97-AF65-F5344CB8AC3E}">
        <p14:creationId xmlns:p14="http://schemas.microsoft.com/office/powerpoint/2010/main" val="1953962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object 3">
            <a:extLst>
              <a:ext uri="{FF2B5EF4-FFF2-40B4-BE49-F238E27FC236}">
                <a16:creationId xmlns:a16="http://schemas.microsoft.com/office/drawing/2014/main" id="{69515C34-54B8-68B3-1E59-02778DB66D3E}"/>
              </a:ext>
            </a:extLst>
          </p:cNvPr>
          <p:cNvGrpSpPr/>
          <p:nvPr/>
        </p:nvGrpSpPr>
        <p:grpSpPr>
          <a:xfrm>
            <a:off x="2502845" y="29493"/>
            <a:ext cx="5103904" cy="1198311"/>
            <a:chOff x="2648188" y="47148"/>
            <a:chExt cx="5103904" cy="1198311"/>
          </a:xfrm>
        </p:grpSpPr>
        <p:pic>
          <p:nvPicPr>
            <p:cNvPr id="14" name="object 4">
              <a:extLst>
                <a:ext uri="{FF2B5EF4-FFF2-40B4-BE49-F238E27FC236}">
                  <a16:creationId xmlns:a16="http://schemas.microsoft.com/office/drawing/2014/main" id="{324709EB-B675-B274-B0AA-54C44E3EBF7A}"/>
                </a:ext>
              </a:extLst>
            </p:cNvPr>
            <p:cNvPicPr/>
            <p:nvPr/>
          </p:nvPicPr>
          <p:blipFill>
            <a:blip r:embed="rId3" cstate="print"/>
            <a:stretch>
              <a:fillRect/>
            </a:stretch>
          </p:blipFill>
          <p:spPr>
            <a:xfrm>
              <a:off x="2648188" y="47148"/>
              <a:ext cx="5103904" cy="1198311"/>
            </a:xfrm>
            <a:prstGeom prst="rect">
              <a:avLst/>
            </a:prstGeom>
          </p:spPr>
        </p:pic>
        <p:pic>
          <p:nvPicPr>
            <p:cNvPr id="15" name="object 5">
              <a:extLst>
                <a:ext uri="{FF2B5EF4-FFF2-40B4-BE49-F238E27FC236}">
                  <a16:creationId xmlns:a16="http://schemas.microsoft.com/office/drawing/2014/main" id="{0CF555EF-A5D2-9D89-803B-DA82AD3A0968}"/>
                </a:ext>
              </a:extLst>
            </p:cNvPr>
            <p:cNvPicPr/>
            <p:nvPr/>
          </p:nvPicPr>
          <p:blipFill>
            <a:blip r:embed="rId4" cstate="print"/>
            <a:stretch>
              <a:fillRect/>
            </a:stretch>
          </p:blipFill>
          <p:spPr>
            <a:xfrm>
              <a:off x="2703195" y="86439"/>
              <a:ext cx="4997767" cy="1092279"/>
            </a:xfrm>
            <a:prstGeom prst="rect">
              <a:avLst/>
            </a:prstGeom>
          </p:spPr>
        </p:pic>
        <p:pic>
          <p:nvPicPr>
            <p:cNvPr id="16" name="object 6">
              <a:extLst>
                <a:ext uri="{FF2B5EF4-FFF2-40B4-BE49-F238E27FC236}">
                  <a16:creationId xmlns:a16="http://schemas.microsoft.com/office/drawing/2014/main" id="{A03AD762-544B-CB05-041E-9E4F145E8900}"/>
                </a:ext>
              </a:extLst>
            </p:cNvPr>
            <p:cNvPicPr/>
            <p:nvPr/>
          </p:nvPicPr>
          <p:blipFill>
            <a:blip r:embed="rId5" cstate="print"/>
            <a:stretch>
              <a:fillRect/>
            </a:stretch>
          </p:blipFill>
          <p:spPr>
            <a:xfrm>
              <a:off x="2828925" y="243549"/>
              <a:ext cx="4585268" cy="522565"/>
            </a:xfrm>
            <a:prstGeom prst="rect">
              <a:avLst/>
            </a:prstGeom>
          </p:spPr>
        </p:pic>
        <p:sp>
          <p:nvSpPr>
            <p:cNvPr id="17" name="object 7">
              <a:extLst>
                <a:ext uri="{FF2B5EF4-FFF2-40B4-BE49-F238E27FC236}">
                  <a16:creationId xmlns:a16="http://schemas.microsoft.com/office/drawing/2014/main" id="{BBA23922-0F74-CFD0-94A4-085DE718B90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8" name="object 9">
            <a:extLst>
              <a:ext uri="{FF2B5EF4-FFF2-40B4-BE49-F238E27FC236}">
                <a16:creationId xmlns:a16="http://schemas.microsoft.com/office/drawing/2014/main" id="{A7AD576E-686D-E4F0-005A-B586284AC63B}"/>
              </a:ext>
            </a:extLst>
          </p:cNvPr>
          <p:cNvSpPr txBox="1">
            <a:spLocks noGrp="1"/>
          </p:cNvSpPr>
          <p:nvPr>
            <p:ph type="title"/>
          </p:nvPr>
        </p:nvSpPr>
        <p:spPr>
          <a:xfrm>
            <a:off x="3810000" y="282193"/>
            <a:ext cx="2836545" cy="324448"/>
          </a:xfrm>
          <a:prstGeom prst="rect">
            <a:avLst/>
          </a:prstGeom>
        </p:spPr>
        <p:txBody>
          <a:bodyPr vert="horz" wrap="square" lIns="0" tIns="16510" rIns="0" bIns="0" rtlCol="0">
            <a:spAutoFit/>
          </a:bodyPr>
          <a:lstStyle/>
          <a:p>
            <a:pPr marL="12700">
              <a:lnSpc>
                <a:spcPct val="100000"/>
              </a:lnSpc>
              <a:spcBef>
                <a:spcPts val="2060"/>
              </a:spcBef>
              <a:tabLst>
                <a:tab pos="389890" algn="l"/>
              </a:tabLst>
            </a:pPr>
            <a:r>
              <a:rPr lang="en-IN" sz="2000" dirty="0">
                <a:solidFill>
                  <a:schemeClr val="bg1"/>
                </a:solidFill>
                <a:latin typeface="Times New Roman" panose="02020603050405020304" pitchFamily="18" charset="0"/>
                <a:cs typeface="Times New Roman" panose="02020603050405020304" pitchFamily="18" charset="0"/>
              </a:rPr>
              <a:t>Comparative Analysis</a:t>
            </a:r>
          </a:p>
        </p:txBody>
      </p:sp>
      <p:pic>
        <p:nvPicPr>
          <p:cNvPr id="19" name="object 3">
            <a:extLst>
              <a:ext uri="{FF2B5EF4-FFF2-40B4-BE49-F238E27FC236}">
                <a16:creationId xmlns:a16="http://schemas.microsoft.com/office/drawing/2014/main" id="{94BFC091-24B3-11D6-D43E-CA1C91ADB3C2}"/>
              </a:ext>
            </a:extLst>
          </p:cNvPr>
          <p:cNvPicPr/>
          <p:nvPr/>
        </p:nvPicPr>
        <p:blipFill>
          <a:blip r:embed="rId6" cstate="print"/>
          <a:stretch>
            <a:fillRect/>
          </a:stretch>
        </p:blipFill>
        <p:spPr>
          <a:xfrm>
            <a:off x="290750" y="204311"/>
            <a:ext cx="1163002" cy="424338"/>
          </a:xfrm>
          <a:prstGeom prst="rect">
            <a:avLst/>
          </a:prstGeom>
        </p:spPr>
      </p:pic>
      <p:graphicFrame>
        <p:nvGraphicFramePr>
          <p:cNvPr id="23" name="Table 22">
            <a:extLst>
              <a:ext uri="{FF2B5EF4-FFF2-40B4-BE49-F238E27FC236}">
                <a16:creationId xmlns:a16="http://schemas.microsoft.com/office/drawing/2014/main" id="{E5B8A2E2-DC5F-5EF8-A0B5-2DC2FB552952}"/>
              </a:ext>
            </a:extLst>
          </p:cNvPr>
          <p:cNvGraphicFramePr>
            <a:graphicFrameLocks noGrp="1"/>
          </p:cNvGraphicFramePr>
          <p:nvPr>
            <p:extLst>
              <p:ext uri="{D42A27DB-BD31-4B8C-83A1-F6EECF244321}">
                <p14:modId xmlns:p14="http://schemas.microsoft.com/office/powerpoint/2010/main" val="3120163470"/>
              </p:ext>
            </p:extLst>
          </p:nvPr>
        </p:nvGraphicFramePr>
        <p:xfrm>
          <a:off x="609600" y="3657093"/>
          <a:ext cx="8922792" cy="4046347"/>
        </p:xfrm>
        <a:graphic>
          <a:graphicData uri="http://schemas.openxmlformats.org/drawingml/2006/table">
            <a:tbl>
              <a:tblPr/>
              <a:tblGrid>
                <a:gridCol w="2230698">
                  <a:extLst>
                    <a:ext uri="{9D8B030D-6E8A-4147-A177-3AD203B41FA5}">
                      <a16:colId xmlns:a16="http://schemas.microsoft.com/office/drawing/2014/main" val="2483402740"/>
                    </a:ext>
                  </a:extLst>
                </a:gridCol>
                <a:gridCol w="2230698">
                  <a:extLst>
                    <a:ext uri="{9D8B030D-6E8A-4147-A177-3AD203B41FA5}">
                      <a16:colId xmlns:a16="http://schemas.microsoft.com/office/drawing/2014/main" val="3083350056"/>
                    </a:ext>
                  </a:extLst>
                </a:gridCol>
                <a:gridCol w="2230698">
                  <a:extLst>
                    <a:ext uri="{9D8B030D-6E8A-4147-A177-3AD203B41FA5}">
                      <a16:colId xmlns:a16="http://schemas.microsoft.com/office/drawing/2014/main" val="2927502395"/>
                    </a:ext>
                  </a:extLst>
                </a:gridCol>
                <a:gridCol w="2230698">
                  <a:extLst>
                    <a:ext uri="{9D8B030D-6E8A-4147-A177-3AD203B41FA5}">
                      <a16:colId xmlns:a16="http://schemas.microsoft.com/office/drawing/2014/main" val="3905686168"/>
                    </a:ext>
                  </a:extLst>
                </a:gridCol>
              </a:tblGrid>
              <a:tr h="320392">
                <a:tc>
                  <a:txBody>
                    <a:bodyPr/>
                    <a:lstStyle/>
                    <a:p>
                      <a:pPr>
                        <a:buNone/>
                      </a:pPr>
                      <a:r>
                        <a:rPr lang="en-IN" sz="1600"/>
                        <a:t>Algorithm</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a:t>Task Type</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a:t>Accuracy / Metric</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a:t>Result Analysis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80700884"/>
                  </a:ext>
                </a:extLst>
              </a:tr>
              <a:tr h="786415">
                <a:tc>
                  <a:txBody>
                    <a:bodyPr/>
                    <a:lstStyle/>
                    <a:p>
                      <a:pPr>
                        <a:buNone/>
                      </a:pPr>
                      <a:r>
                        <a:rPr lang="en-IN" sz="1600"/>
                        <a:t>Random Forest</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dirty="0"/>
                        <a:t>Classification</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a:t>~74.6%</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US" sz="1600"/>
                        <a:t>Highest accuracy for predicting student outcomes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61218063"/>
                  </a:ext>
                </a:extLst>
              </a:tr>
              <a:tr h="1019427">
                <a:tc>
                  <a:txBody>
                    <a:bodyPr/>
                    <a:lstStyle/>
                    <a:p>
                      <a:pPr>
                        <a:buNone/>
                      </a:pPr>
                      <a:r>
                        <a:rPr lang="en-IN" sz="1600" dirty="0"/>
                        <a:t>J48</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dirty="0"/>
                        <a:t>Classification</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a:t>Moderate accuracy</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US" sz="1600"/>
                        <a:t>Generates clear IF–THEN decision rules explaining student status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638779267"/>
                  </a:ext>
                </a:extLst>
              </a:tr>
              <a:tr h="786415">
                <a:tc>
                  <a:txBody>
                    <a:bodyPr/>
                    <a:lstStyle/>
                    <a:p>
                      <a:pPr>
                        <a:buNone/>
                      </a:pPr>
                      <a:r>
                        <a:rPr lang="en-IN" sz="1600"/>
                        <a:t>Apriori</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dirty="0"/>
                        <a:t>Association</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a:t>Rule generation</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US" sz="1600"/>
                        <a:t>Discovers relationships between student attributes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149788119"/>
                  </a:ext>
                </a:extLst>
              </a:tr>
              <a:tr h="998347">
                <a:tc>
                  <a:txBody>
                    <a:bodyPr/>
                    <a:lstStyle/>
                    <a:p>
                      <a:pPr>
                        <a:buNone/>
                      </a:pPr>
                      <a:r>
                        <a:rPr lang="en-IN" sz="1600"/>
                        <a:t>SimpleKMeans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a:t>Clustering</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IN" sz="1600"/>
                        <a:t>Group similarity</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tc>
                  <a:txBody>
                    <a:bodyPr/>
                    <a:lstStyle/>
                    <a:p>
                      <a:pPr>
                        <a:buNone/>
                      </a:pPr>
                      <a:r>
                        <a:rPr lang="en-US" sz="1600" dirty="0"/>
                        <a:t>Identifies clusters of students with similar academic behavior</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81562096"/>
                  </a:ext>
                </a:extLst>
              </a:tr>
            </a:tbl>
          </a:graphicData>
        </a:graphic>
      </p:graphicFrame>
      <p:sp>
        <p:nvSpPr>
          <p:cNvPr id="25" name="Rectangle 2">
            <a:extLst>
              <a:ext uri="{FF2B5EF4-FFF2-40B4-BE49-F238E27FC236}">
                <a16:creationId xmlns:a16="http://schemas.microsoft.com/office/drawing/2014/main" id="{BDA0A91D-6CE4-CA24-78EF-B463D6CAE48C}"/>
              </a:ext>
            </a:extLst>
          </p:cNvPr>
          <p:cNvSpPr>
            <a:spLocks noChangeArrowheads="1"/>
          </p:cNvSpPr>
          <p:nvPr/>
        </p:nvSpPr>
        <p:spPr bwMode="auto">
          <a:xfrm>
            <a:off x="526008" y="743420"/>
            <a:ext cx="9006384"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latin typeface="Times New Roman" panose="02020603050405020304" pitchFamily="18" charset="0"/>
                <a:cs typeface="Times New Roman" panose="02020603050405020304" pitchFamily="18" charset="0"/>
              </a:rPr>
              <a:t>Accuracy Winner</a:t>
            </a:r>
          </a:p>
          <a:p>
            <a:r>
              <a:rPr lang="en-US" dirty="0">
                <a:latin typeface="Times New Roman" panose="02020603050405020304" pitchFamily="18" charset="0"/>
                <a:cs typeface="Times New Roman" panose="02020603050405020304" pitchFamily="18" charset="0"/>
              </a:rPr>
              <a:t>In this project, </a:t>
            </a:r>
            <a:r>
              <a:rPr lang="en-US" b="1" dirty="0">
                <a:latin typeface="Times New Roman" panose="02020603050405020304" pitchFamily="18" charset="0"/>
                <a:cs typeface="Times New Roman" panose="02020603050405020304" pitchFamily="18" charset="0"/>
              </a:rPr>
              <a:t>Random Forest (~74.6%) performed better than J48</a:t>
            </a:r>
            <a:r>
              <a:rPr lang="en-US" dirty="0">
                <a:latin typeface="Times New Roman" panose="02020603050405020304" pitchFamily="18" charset="0"/>
                <a:cs typeface="Times New Roman" panose="02020603050405020304" pitchFamily="18" charset="0"/>
              </a:rPr>
              <a:t> because it combines multiple decision trees and reduces overfitting, resulting in more stable and reliable predictions.</a:t>
            </a:r>
          </a:p>
          <a:p>
            <a:r>
              <a:rPr lang="en-US" sz="2000" b="1" dirty="0">
                <a:latin typeface="Times New Roman" panose="02020603050405020304" pitchFamily="18" charset="0"/>
                <a:cs typeface="Times New Roman" panose="02020603050405020304" pitchFamily="18" charset="0"/>
              </a:rPr>
              <a:t>Interpretability Winner</a:t>
            </a:r>
          </a:p>
          <a:p>
            <a:r>
              <a:rPr lang="en-US" b="1" dirty="0">
                <a:latin typeface="Times New Roman" panose="02020603050405020304" pitchFamily="18" charset="0"/>
                <a:cs typeface="Times New Roman" panose="02020603050405020304" pitchFamily="18" charset="0"/>
              </a:rPr>
              <a:t>J48 decision tree provides clear and interpretable IF–THEN rules</a:t>
            </a:r>
            <a:r>
              <a:rPr lang="en-US" dirty="0">
                <a:latin typeface="Times New Roman" panose="02020603050405020304" pitchFamily="18" charset="0"/>
                <a:cs typeface="Times New Roman" panose="02020603050405020304" pitchFamily="18" charset="0"/>
              </a:rPr>
              <a:t>, making it easier to understand the factors influencing student outcomes such as dropout or graduation.</a:t>
            </a:r>
          </a:p>
          <a:p>
            <a:r>
              <a:rPr lang="en-US" sz="2000" b="1" dirty="0">
                <a:latin typeface="Times New Roman" panose="02020603050405020304" pitchFamily="18" charset="0"/>
                <a:cs typeface="Times New Roman" panose="02020603050405020304" pitchFamily="18" charset="0"/>
              </a:rPr>
              <a:t>Pattern Discovery</a:t>
            </a:r>
          </a:p>
          <a:p>
            <a:r>
              <a:rPr lang="en-US" b="1" dirty="0">
                <a:latin typeface="Times New Roman" panose="02020603050405020304" pitchFamily="18" charset="0"/>
                <a:cs typeface="Times New Roman" panose="02020603050405020304" pitchFamily="18" charset="0"/>
              </a:rPr>
              <a:t>Apriori and K-Means help discover hidden patterns in the dataset.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Apriori identifies relationships between attributes, while K-Means groups students based on similarity in academic behavior.</a:t>
            </a:r>
          </a:p>
        </p:txBody>
      </p:sp>
    </p:spTree>
    <p:extLst>
      <p:ext uri="{BB962C8B-B14F-4D97-AF65-F5344CB8AC3E}">
        <p14:creationId xmlns:p14="http://schemas.microsoft.com/office/powerpoint/2010/main" val="314495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A2FE2B81-F65D-39BC-2DBA-19146B65EBFD}"/>
              </a:ext>
            </a:extLst>
          </p:cNvPr>
          <p:cNvGrpSpPr/>
          <p:nvPr/>
        </p:nvGrpSpPr>
        <p:grpSpPr>
          <a:xfrm>
            <a:off x="2477248" y="152400"/>
            <a:ext cx="5103904" cy="1198311"/>
            <a:chOff x="2648188" y="47148"/>
            <a:chExt cx="5103904" cy="1198311"/>
          </a:xfrm>
        </p:grpSpPr>
        <p:pic>
          <p:nvPicPr>
            <p:cNvPr id="5" name="object 4">
              <a:extLst>
                <a:ext uri="{FF2B5EF4-FFF2-40B4-BE49-F238E27FC236}">
                  <a16:creationId xmlns:a16="http://schemas.microsoft.com/office/drawing/2014/main" id="{1907ECB0-47E7-AA6F-0E14-A24E35F881F5}"/>
                </a:ext>
              </a:extLst>
            </p:cNvPr>
            <p:cNvPicPr/>
            <p:nvPr/>
          </p:nvPicPr>
          <p:blipFill>
            <a:blip r:embed="rId2" cstate="print"/>
            <a:stretch>
              <a:fillRect/>
            </a:stretch>
          </p:blipFill>
          <p:spPr>
            <a:xfrm>
              <a:off x="2648188" y="47148"/>
              <a:ext cx="5103904" cy="1198311"/>
            </a:xfrm>
            <a:prstGeom prst="rect">
              <a:avLst/>
            </a:prstGeom>
          </p:spPr>
        </p:pic>
        <p:pic>
          <p:nvPicPr>
            <p:cNvPr id="14" name="object 5">
              <a:extLst>
                <a:ext uri="{FF2B5EF4-FFF2-40B4-BE49-F238E27FC236}">
                  <a16:creationId xmlns:a16="http://schemas.microsoft.com/office/drawing/2014/main" id="{ACA1C010-7AF3-CF33-0280-7FAAF1639103}"/>
                </a:ext>
              </a:extLst>
            </p:cNvPr>
            <p:cNvPicPr/>
            <p:nvPr/>
          </p:nvPicPr>
          <p:blipFill>
            <a:blip r:embed="rId3" cstate="print"/>
            <a:stretch>
              <a:fillRect/>
            </a:stretch>
          </p:blipFill>
          <p:spPr>
            <a:xfrm>
              <a:off x="2703195" y="86439"/>
              <a:ext cx="4997767" cy="1092279"/>
            </a:xfrm>
            <a:prstGeom prst="rect">
              <a:avLst/>
            </a:prstGeom>
          </p:spPr>
        </p:pic>
        <p:pic>
          <p:nvPicPr>
            <p:cNvPr id="15" name="object 6">
              <a:extLst>
                <a:ext uri="{FF2B5EF4-FFF2-40B4-BE49-F238E27FC236}">
                  <a16:creationId xmlns:a16="http://schemas.microsoft.com/office/drawing/2014/main" id="{D7C784E0-069F-114D-5DD9-5205304EEC25}"/>
                </a:ext>
              </a:extLst>
            </p:cNvPr>
            <p:cNvPicPr/>
            <p:nvPr/>
          </p:nvPicPr>
          <p:blipFill>
            <a:blip r:embed="rId4" cstate="print"/>
            <a:stretch>
              <a:fillRect/>
            </a:stretch>
          </p:blipFill>
          <p:spPr>
            <a:xfrm>
              <a:off x="2828925" y="243549"/>
              <a:ext cx="4585268" cy="522565"/>
            </a:xfrm>
            <a:prstGeom prst="rect">
              <a:avLst/>
            </a:prstGeom>
          </p:spPr>
        </p:pic>
        <p:sp>
          <p:nvSpPr>
            <p:cNvPr id="16" name="object 7">
              <a:extLst>
                <a:ext uri="{FF2B5EF4-FFF2-40B4-BE49-F238E27FC236}">
                  <a16:creationId xmlns:a16="http://schemas.microsoft.com/office/drawing/2014/main" id="{3260E670-DEB1-740F-5D81-0ABCDAD1B5B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7" name="object 9">
            <a:extLst>
              <a:ext uri="{FF2B5EF4-FFF2-40B4-BE49-F238E27FC236}">
                <a16:creationId xmlns:a16="http://schemas.microsoft.com/office/drawing/2014/main" id="{C67DE28F-77EF-5063-64CF-1576CF3E49A1}"/>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8" name="object 3">
            <a:extLst>
              <a:ext uri="{FF2B5EF4-FFF2-40B4-BE49-F238E27FC236}">
                <a16:creationId xmlns:a16="http://schemas.microsoft.com/office/drawing/2014/main" id="{E342DCB0-62F8-4CDB-1B9B-E333D68BD0A7}"/>
              </a:ext>
            </a:extLst>
          </p:cNvPr>
          <p:cNvPicPr/>
          <p:nvPr/>
        </p:nvPicPr>
        <p:blipFill>
          <a:blip r:embed="rId5" cstate="print"/>
          <a:stretch>
            <a:fillRect/>
          </a:stretch>
        </p:blipFill>
        <p:spPr>
          <a:xfrm>
            <a:off x="290750" y="204311"/>
            <a:ext cx="1163002" cy="424338"/>
          </a:xfrm>
          <a:prstGeom prst="rect">
            <a:avLst/>
          </a:prstGeom>
        </p:spPr>
      </p:pic>
      <p:sp>
        <p:nvSpPr>
          <p:cNvPr id="21" name="TextBox 20">
            <a:extLst>
              <a:ext uri="{FF2B5EF4-FFF2-40B4-BE49-F238E27FC236}">
                <a16:creationId xmlns:a16="http://schemas.microsoft.com/office/drawing/2014/main" id="{4EA75883-331B-CFC8-E45E-666750F5EF55}"/>
              </a:ext>
            </a:extLst>
          </p:cNvPr>
          <p:cNvSpPr txBox="1"/>
          <p:nvPr/>
        </p:nvSpPr>
        <p:spPr>
          <a:xfrm>
            <a:off x="647699" y="1052637"/>
            <a:ext cx="8763001" cy="5386090"/>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Conclusion</a:t>
            </a:r>
          </a:p>
          <a:p>
            <a:r>
              <a:rPr lang="en-US" sz="2200" dirty="0">
                <a:latin typeface="Times New Roman" panose="02020603050405020304" pitchFamily="18" charset="0"/>
                <a:cs typeface="Times New Roman" panose="02020603050405020304" pitchFamily="18" charset="0"/>
              </a:rPr>
              <a:t>Student academic outcomes in this project are influenced by multiple factors such as </a:t>
            </a:r>
            <a:r>
              <a:rPr lang="en-US" sz="2200" b="1" dirty="0">
                <a:latin typeface="Times New Roman" panose="02020603050405020304" pitchFamily="18" charset="0"/>
                <a:cs typeface="Times New Roman" panose="02020603050405020304" pitchFamily="18" charset="0"/>
              </a:rPr>
              <a:t>curriculum performance, enrollment patterns, and tuition payment status</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Random Forest achieved the highest prediction accuracy, while J48 provided interpretable rules explaining dropout patterns. Clustering algorithms identified groups of students with similar academic characteristics, and association rule mining revealed relationships between important dataset attributes.</a:t>
            </a:r>
          </a:p>
          <a:p>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Future Work</a:t>
            </a:r>
          </a:p>
          <a:p>
            <a:r>
              <a:rPr lang="en-US" sz="2400" dirty="0">
                <a:latin typeface="Times New Roman" panose="02020603050405020304" pitchFamily="18" charset="0"/>
                <a:cs typeface="Times New Roman" panose="02020603050405020304" pitchFamily="18" charset="0"/>
              </a:rPr>
              <a:t>Future improvements may include handling class imbalance using techniques such as </a:t>
            </a:r>
            <a:r>
              <a:rPr lang="en-US" sz="2400" b="1" dirty="0">
                <a:latin typeface="Times New Roman" panose="02020603050405020304" pitchFamily="18" charset="0"/>
                <a:cs typeface="Times New Roman" panose="02020603050405020304" pitchFamily="18" charset="0"/>
              </a:rPr>
              <a:t>SMOTE</a:t>
            </a:r>
            <a:r>
              <a:rPr lang="en-US" sz="2400" dirty="0">
                <a:latin typeface="Times New Roman" panose="02020603050405020304" pitchFamily="18" charset="0"/>
                <a:cs typeface="Times New Roman" panose="02020603050405020304" pitchFamily="18" charset="0"/>
              </a:rPr>
              <a:t> and applying more advanced machine learning models for improved prediction performance.</a:t>
            </a:r>
          </a:p>
        </p:txBody>
      </p:sp>
    </p:spTree>
    <p:extLst>
      <p:ext uri="{BB962C8B-B14F-4D97-AF65-F5344CB8AC3E}">
        <p14:creationId xmlns:p14="http://schemas.microsoft.com/office/powerpoint/2010/main" val="2694192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2813</TotalTime>
  <Words>1349</Words>
  <Application>Microsoft Office PowerPoint</Application>
  <PresentationFormat>Custom</PresentationFormat>
  <Paragraphs>185</Paragraphs>
  <Slides>20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Cambria</vt:lpstr>
      <vt:lpstr>Palatino Linotype</vt:lpstr>
      <vt:lpstr>Times New Roman</vt:lpstr>
      <vt:lpstr>Office Theme</vt:lpstr>
      <vt:lpstr>Data Mining Project Final Review AIML - 1</vt:lpstr>
      <vt:lpstr>PowerPoint Presentation</vt:lpstr>
      <vt:lpstr>ABSTRACT</vt:lpstr>
      <vt:lpstr>PowerPoint Presentation</vt:lpstr>
      <vt:lpstr>PowerPoint Presentation</vt:lpstr>
      <vt:lpstr>PowerPoint Presentation</vt:lpstr>
      <vt:lpstr>PowerPoint Presentation</vt:lpstr>
      <vt:lpstr>J48  OUTPUT</vt:lpstr>
      <vt:lpstr>PowerPoint Presentation</vt:lpstr>
      <vt:lpstr>PowerPoint Presentation</vt:lpstr>
      <vt:lpstr>CONCLUSION</vt:lpstr>
      <vt:lpstr>PowerPoint Presentation</vt:lpstr>
      <vt:lpstr>PowerPoint Presentation</vt:lpstr>
      <vt:lpstr>PowerPoint Presentation</vt:lpstr>
      <vt:lpstr>PowerPoint Presentation</vt:lpstr>
      <vt:lpstr>PowerPoint Presentation</vt:lpstr>
      <vt:lpstr>PowerPoint Presentation</vt:lpstr>
      <vt:lpstr>Comparative Analysis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VENKATA SRI VIJAY KARTHIK RYALI</cp:lastModifiedBy>
  <cp:revision>52</cp:revision>
  <cp:lastPrinted>2025-10-14T18:21:49Z</cp:lastPrinted>
  <dcterms:created xsi:type="dcterms:W3CDTF">2025-10-10T08:28:06Z</dcterms:created>
  <dcterms:modified xsi:type="dcterms:W3CDTF">2026-03-23T08:43:51Z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